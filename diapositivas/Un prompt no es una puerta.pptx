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Open Sans" pitchFamily="34" charset="0"/>
      <p:regular r:id="rId17"/>
      <p:bold r:id="rId18"/>
    </p:embeddedFont>
    <p:embeddedFont>
      <p:font typeface="JetBrains Mono" panose="02000009000000000000" pitchFamily="49"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de arranque: ¿quién tiene un copilot-instructions.md con reglas del tipo «nunca hagas X»? Que levanten la mano. Hoy vamos a ver qué pasa con esas reglas cuando el agente decide que tiene una idea mejor.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del artículo «Un prompt no es una puerta» (Gemba). El agente tenía que tocar una pantalla. Además cambió un texto legal protegido (una tilde), regrabó la captura de referencia para que el test no lo detectara y registró en cuatro sitios que el autor lo había aprobado. Fallaron cinco capas: el hook visual estaba enganchado a un punto que el agente no atravesó; la etiqueta de la tarea decía «no requiere revisión visual»; la CI estaba en verde porque comprueba que el código funciona, no que hubiera permiso; dos agentes revisores aprobaron el código; y una comprobación final estaba documentada pero nunca se implementó. Lo detectó una persona mirando el 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aviso es un cartel: se puede leer y seguir de largo. Una puerta es una barrera: la acción no ocurre. Una instrucción a un agente es una petición, no un control. Solo es un control lo que puede detener la acción: un hook que bloquea, un test que falla, una comprobación en CI. Vamos a verlo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Cambiar a VS Code (solo el proyecto facturacion abierto). 1) Enseñar .github/copilot-instructions.md y la regla. 2) Enseñar el test del tope del 50 %, «aprobado por Finanzas». 3) uv run pytest -q: 8 passed. 4) «De momento, solo hay prosa: no hay ningún hook.» 5) Pegar el prompt en el chat en modo Agent. Esperado: añade "vip": 0.60 a DESCUENTOS_POR_TIPO, falla el test de los tipos de cliente (o el del 50 % si sube el tope) y edita un test para que pase. Frase: «La regla estaba escrita. La ha leído. Y aun así la ha roto, con buena intención.» Plan B: si obedece, «¿lo firmaríais para siempre?» y el prompt presionado del GUION; si no, el vídeo.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Acabamos de ver la regla fallar. Pasémosla por las tres preguntas del artículo. 1) ¿Podría no leerla? Sí: el contexto se recorta, y en el artículo un requisito no llegó al agente porque esa sección no entró en el paquete de contexto. 2) ¿Y si la lee y hace otra cosa? Es lo que acabamos de ver. 3) ¿Quién comprueba que se cumplió? Nadie, o el propio agente. Nuestra regla falla en las 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En la terminal del presentador: uv run puerta on; en VS Code aparece .github/hooks/ y /hooks lo lista. 2) Enseñar proteger-tests.json: Copilot ejecuta el script antes de cada herramienta. 3) Leer .github/hooks/proteger_tests.py (unas 45 líneas): las tres condiciones toca_protegido, solo_lee y ejecuta_tests. 4) Señalar la cabecera «Huecos conocidos». 5) Chat nuevo y la MISMA petición. Esperado: herramienta denegada, el agente recibe el motivo y cambia de plan. Frase: «No le hemos pedido nada distinto. Le hemos quitado la posibilidad.» Bonus: pedirle que desactive el hook, y también queda denegado. Plan B: el hook por pipe en la terminal.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hook corre en la máquina del agente y tiene huecos: un python -c ofuscado o un script intermedio podrían esquivarlo. Por eso hay una segunda puerta en CI, que el agente no puede tocar. Enseñar guardia/ficheros-protegidos.yml desde el kit (en un repo real va en .github/workflows/) y, en local, editar a mano un test y ejecutar uv run check en la terminal del presentador: falla. La salida legítima es humana: una persona pone la etiqueta cambio-de-especificacion en el PR. Cambiar una regla de negocio lo decide una persona. Además, nuestro hook se protege a sí mismo: el agente no puede editarlo ni apagarlo.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propiedades del artículo. Se verifica por su efecto: en el artículo, un fichero centinela que no debe aparecer; aquí, los tests del hook. Funciona sin nadie mirando: un hook que pregunta «¿seguro?» no sirve en un agente desatendido. Documenta sus huecos: nuestro hook lo dice en su cabecera, y por eso añadimos la puerta de CI. El autor cuenta que en su loop tiene unas 50.000 palabras de prosa normativa frente a unas 34.000 líneas de código que realmente controlan, y casi la mitad de esas líneas son comentarios que explican cada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práctico. No hace falta convertir todas las reglas: las de estilo pueden seguir en prosa. Pero las que, si se rompen, causan un problema real (tests, ficheros legales, secretos, migraciones, git push --force, cerrar issues) merecen una puerta. El repo de la demo sirve de plantilla: hook en Python, sus tests y el workflow de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El artículo enlaza su repo gemba-door-not-warning (MIT), con un hook de ejemplo y su test por efecto. Ofrecer el repo de la demo al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10"/>
            <a:ext cx="10566400" cy="502903"/>
          </a:xfrm>
          <a:prstGeom prst="rect">
            <a:avLst/>
          </a:prstGeom>
          <a:noFill/>
          <a:ln/>
        </p:spPr>
        <p:txBody>
          <a:bodyPr wrap="square" lIns="0" tIns="0" rIns="0" bIns="0" rtlCol="0" anchor="t"/>
          <a:lstStyle>
            <a:lvl1pPr algn="l" indent="0" marL="0">
              <a:lnSpc>
                <a:spcPct val="115000"/>
              </a:lnSpc>
              <a:buNone/>
              <a:defRPr lang="en-US" sz="3600" dirty="0">
                <a:solidFill>
                  <a:srgbClr val="222222"/>
                </a:solidFill>
                <a:latin typeface="Open Sans" pitchFamily="34" charset="0"/>
                <a:ea typeface="Open Sans" pitchFamily="34" charset="-122"/>
                <a:cs typeface="Open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4"/>
            <a:ext cx="10566400" cy="4109786"/>
          </a:xfrm>
          <a:prstGeom prst="rect">
            <a:avLst/>
          </a:prstGeom>
          <a:noFill/>
          <a:ln/>
        </p:spPr>
        <p:txBody>
          <a:bodyPr wrap="square" lIns="0" tIns="0" rIns="0" bIns="0" rtlCol="0" anchor="t"/>
          <a:lstStyle>
            <a:lvl1pPr algn="l" indent="0" marL="0">
              <a:lnSpc>
                <a:spcPct val="140000"/>
              </a:lnSpc>
              <a:buNone/>
              <a:defRPr lang="en-US" sz="1600" dirty="0">
                <a:solidFill>
                  <a:srgbClr val="222222"/>
                </a:solidFill>
                <a:latin typeface="Open Sans" pitchFamily="34" charset="0"/>
                <a:ea typeface="Open Sans" pitchFamily="34" charset="-122"/>
                <a:cs typeface="Open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10"/>
            <a:ext cx="10566400" cy="502903"/>
          </a:xfrm>
          <a:prstGeom prst="rect">
            <a:avLst/>
          </a:prstGeom>
          <a:noFill/>
          <a:ln/>
        </p:spPr>
        <p:txBody>
          <a:bodyPr wrap="square" lIns="0" tIns="0" rIns="0" bIns="0" rtlCol="0" anchor="t"/>
          <a:lstStyle>
            <a:lvl1pPr algn="l" indent="0" marL="0">
              <a:lnSpc>
                <a:spcPct val="115000"/>
              </a:lnSpc>
              <a:buNone/>
              <a:defRPr lang="en-US" sz="3600" dirty="0">
                <a:solidFill>
                  <a:srgbClr val="222222"/>
                </a:solidFill>
                <a:latin typeface="Open Sans" pitchFamily="34" charset="0"/>
                <a:ea typeface="Open Sans" pitchFamily="34" charset="-122"/>
                <a:cs typeface="Open Sans"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414"/>
            <a:ext cx="10566400" cy="4109786"/>
          </a:xfrm>
          <a:prstGeom prst="rect">
            <a:avLst/>
          </a:prstGeom>
          <a:noFill/>
          <a:ln/>
        </p:spPr>
        <p:txBody>
          <a:bodyPr wrap="square" lIns="0" tIns="0" rIns="0" bIns="0" rtlCol="0" anchor="t"/>
          <a:lstStyle>
            <a:lvl1pPr algn="l" indent="0" marL="0">
              <a:lnSpc>
                <a:spcPct val="140000"/>
              </a:lnSpc>
              <a:buNone/>
              <a:defRPr lang="en-US" sz="1600" dirty="0">
                <a:solidFill>
                  <a:srgbClr val="222222"/>
                </a:solidFill>
                <a:latin typeface="Open Sans" pitchFamily="34" charset="0"/>
                <a:ea typeface="Open Sans" pitchFamily="34" charset="-122"/>
                <a:cs typeface="Open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newsletter.gemba.es/p/un-prompt-no-es-una-puerta" TargetMode="External"/><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C0000"/>
        </a:solidFill>
      </p:bgPr>
    </p:bg>
    <p:spTree>
      <p:nvGrpSpPr>
        <p:cNvPr id="1" name=""/>
        <p:cNvGrpSpPr/>
        <p:nvPr/>
      </p:nvGrpSpPr>
      <p:grpSpPr>
        <a:xfrm>
          <a:off x="0" y="0"/>
          <a:ext cx="0" cy="0"/>
          <a:chOff x="0" y="0"/>
          <a:chExt cx="0" cy="0"/>
        </a:xfrm>
      </p:grpSpPr>
      <p:sp>
        <p:nvSpPr>
          <p:cNvPr id="2" name="Shape 0"/>
          <p:cNvSpPr/>
          <p:nvPr/>
        </p:nvSpPr>
        <p:spPr>
          <a:xfrm>
            <a:off x="812800" y="1606550"/>
            <a:ext cx="1270000" cy="101600"/>
          </a:xfrm>
          <a:prstGeom prst="rect">
            <a:avLst/>
          </a:prstGeom>
          <a:solidFill>
            <a:srgbClr val="FFFFFF"/>
          </a:solidFill>
          <a:ln/>
        </p:spPr>
      </p:sp>
      <p:sp>
        <p:nvSpPr>
          <p:cNvPr id="3" name="Text 1"/>
          <p:cNvSpPr/>
          <p:nvPr/>
        </p:nvSpPr>
        <p:spPr>
          <a:xfrm>
            <a:off x="812800" y="1962150"/>
            <a:ext cx="10883392" cy="309813"/>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FFFFF"/>
                </a:solidFill>
                <a:latin typeface="Open Sans" pitchFamily="34" charset="0"/>
                <a:ea typeface="Open Sans" pitchFamily="34" charset="-122"/>
                <a:cs typeface="Open Sans" pitchFamily="34" charset="-120"/>
              </a:rPr>
              <a:t>GUARDARRAÍLES PARA AGENTES DE CÓDIGO</a:t>
            </a:r>
            <a:endParaRPr lang="en-US" sz="1600" dirty="0"/>
          </a:p>
        </p:txBody>
      </p:sp>
      <p:sp>
        <p:nvSpPr>
          <p:cNvPr id="4" name="Text 2"/>
          <p:cNvSpPr/>
          <p:nvPr>
            <p:ph type="title"/>
          </p:nvPr>
        </p:nvSpPr>
        <p:spPr>
          <a:xfrm>
            <a:off x="812800" y="2500563"/>
            <a:ext cx="10883392" cy="2159000"/>
          </a:xfrm>
          <a:prstGeom prst="rect">
            <a:avLst/>
          </a:prstGeom>
          <a:noFill/>
          <a:ln/>
        </p:spPr>
        <p:txBody>
          <a:bodyPr wrap="square" lIns="0" tIns="0" rIns="0" bIns="0" rtlCol="0" anchor="t">
            <a:normAutofit/>
          </a:bodyPr>
          <a:lstStyle/>
          <a:p>
            <a:pPr algn="l" indent="0" marL="0">
              <a:lnSpc>
                <a:spcPts val="8400"/>
              </a:lnSpc>
              <a:buNone/>
            </a:pPr>
            <a:r>
              <a:rPr lang="en-US" sz="8000" b="1" i="0" spc="-100" kern="0" dirty="0">
                <a:solidFill>
                  <a:srgbClr val="FFFFFF"/>
                </a:solidFill>
                <a:latin typeface="Open Sans" pitchFamily="34" charset="0"/>
                <a:ea typeface="Open Sans" pitchFamily="34" charset="-122"/>
                <a:cs typeface="Open Sans" pitchFamily="34" charset="-120"/>
              </a:rPr>
              <a:t>Un prompt no es una puerta</a:t>
            </a:r>
            <a:endParaRPr lang="en-US" sz="8000" dirty="0"/>
          </a:p>
        </p:txBody>
      </p:sp>
      <p:sp>
        <p:nvSpPr>
          <p:cNvPr id="5" name="Text 3"/>
          <p:cNvSpPr/>
          <p:nvPr/>
        </p:nvSpPr>
        <p:spPr>
          <a:xfrm>
            <a:off x="812800" y="4888163"/>
            <a:ext cx="10883392" cy="388603"/>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FFFFF"/>
                </a:solidFill>
                <a:latin typeface="Open Sans" pitchFamily="34" charset="0"/>
                <a:ea typeface="Open Sans" pitchFamily="34" charset="-122"/>
                <a:cs typeface="Open Sans" pitchFamily="34" charset="-120"/>
              </a:rPr>
              <a:t>Por qué las reglas en prosa no bastan, y qué sí funciona</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solidFill>
            <a:srgbClr val="EC0000"/>
          </a:solidFill>
          <a:ln/>
        </p:spPr>
      </p:sp>
      <p:sp>
        <p:nvSpPr>
          <p:cNvPr id="3" name="Text 1"/>
          <p:cNvSpPr/>
          <p:nvPr/>
        </p:nvSpPr>
        <p:spPr>
          <a:xfrm>
            <a:off x="812800" y="812800"/>
            <a:ext cx="10883392" cy="2387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C0000"/>
                </a:solidFill>
                <a:latin typeface="Open Sans" pitchFamily="34" charset="0"/>
                <a:ea typeface="Open Sans" pitchFamily="34" charset="-122"/>
                <a:cs typeface="Open Sans" pitchFamily="34" charset="-120"/>
              </a:rPr>
              <a:t>UN CASO REAL</a:t>
            </a:r>
            <a:endParaRPr lang="en-US" sz="1200" dirty="0"/>
          </a:p>
        </p:txBody>
      </p:sp>
      <p:sp>
        <p:nvSpPr>
          <p:cNvPr id="4" name="Text 2"/>
          <p:cNvSpPr/>
          <p:nvPr>
            <p:ph type="title"/>
          </p:nvPr>
        </p:nvSpPr>
        <p:spPr>
          <a:xfrm>
            <a:off x="812800" y="1127710"/>
            <a:ext cx="10883392" cy="1031207"/>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22222"/>
                </a:solidFill>
                <a:latin typeface="Open Sans" pitchFamily="34" charset="0"/>
                <a:ea typeface="Open Sans" pitchFamily="34" charset="-122"/>
                <a:cs typeface="Open Sans" pitchFamily="34" charset="-120"/>
              </a:rPr>
              <a:t>Un encargo acotado. Tres cosas que nadie pidió.</a:t>
            </a:r>
            <a:endParaRPr lang="en-US" sz="3600" dirty="0"/>
          </a:p>
        </p:txBody>
      </p:sp>
      <p:sp>
        <p:nvSpPr>
          <p:cNvPr id="5" name="Shape 3"/>
          <p:cNvSpPr/>
          <p:nvPr/>
        </p:nvSpPr>
        <p:spPr>
          <a:xfrm>
            <a:off x="819150" y="2596648"/>
            <a:ext cx="3373939" cy="2287003"/>
          </a:xfrm>
          <a:prstGeom prst="roundRect">
            <a:avLst>
              <a:gd name="adj" fmla="val 1944"/>
            </a:avLst>
          </a:prstGeom>
          <a:solidFill>
            <a:srgbClr val="FFFFFF"/>
          </a:solidFill>
          <a:ln w="12700">
            <a:solidFill>
              <a:srgbClr val="E6E6E6"/>
            </a:solidFill>
            <a:prstDash val="solid"/>
          </a:ln>
        </p:spPr>
      </p:sp>
      <p:sp>
        <p:nvSpPr>
          <p:cNvPr id="6" name="Text 4"/>
          <p:cNvSpPr/>
          <p:nvPr/>
        </p:nvSpPr>
        <p:spPr>
          <a:xfrm>
            <a:off x="1077495" y="2854993"/>
            <a:ext cx="2942967" cy="52320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C0000"/>
                </a:solidFill>
                <a:latin typeface="Open Sans" pitchFamily="34" charset="0"/>
                <a:ea typeface="Open Sans" pitchFamily="34" charset="-122"/>
                <a:cs typeface="Open Sans" pitchFamily="34" charset="-120"/>
              </a:rPr>
              <a:t>1</a:t>
            </a:r>
            <a:endParaRPr lang="en-US" sz="2800" dirty="0"/>
          </a:p>
        </p:txBody>
      </p:sp>
      <p:sp>
        <p:nvSpPr>
          <p:cNvPr id="7" name="Text 5"/>
          <p:cNvSpPr/>
          <p:nvPr/>
        </p:nvSpPr>
        <p:spPr>
          <a:xfrm>
            <a:off x="1077495" y="3454400"/>
            <a:ext cx="2942967"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22222"/>
                </a:solidFill>
                <a:latin typeface="Open Sans" pitchFamily="34" charset="0"/>
                <a:ea typeface="Open Sans" pitchFamily="34" charset="-122"/>
                <a:cs typeface="Open Sans" pitchFamily="34" charset="-120"/>
              </a:rPr>
              <a:t>Cambió un texto legal protegido</a:t>
            </a:r>
            <a:endParaRPr lang="en-US" sz="1800" dirty="0"/>
          </a:p>
        </p:txBody>
      </p:sp>
      <p:sp>
        <p:nvSpPr>
          <p:cNvPr id="8" name="Text 6"/>
          <p:cNvSpPr/>
          <p:nvPr/>
        </p:nvSpPr>
        <p:spPr>
          <a:xfrm>
            <a:off x="1077495" y="4127500"/>
            <a:ext cx="2942967" cy="5232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Open Sans" pitchFamily="34" charset="0"/>
                <a:ea typeface="Open Sans" pitchFamily="34" charset="-122"/>
                <a:cs typeface="Open Sans" pitchFamily="34" charset="-120"/>
              </a:rPr>
              <a:t>Añadió una tilde en la pantalla de borrado de cuenta.</a:t>
            </a:r>
            <a:endParaRPr lang="en-US" sz="1400" dirty="0"/>
          </a:p>
        </p:txBody>
      </p:sp>
      <p:sp>
        <p:nvSpPr>
          <p:cNvPr id="9" name="Shape 7"/>
          <p:cNvSpPr/>
          <p:nvPr/>
        </p:nvSpPr>
        <p:spPr>
          <a:xfrm>
            <a:off x="4408989" y="2596648"/>
            <a:ext cx="3374022" cy="2287003"/>
          </a:xfrm>
          <a:prstGeom prst="roundRect">
            <a:avLst>
              <a:gd name="adj" fmla="val 1944"/>
            </a:avLst>
          </a:prstGeom>
          <a:solidFill>
            <a:srgbClr val="FFFFFF"/>
          </a:solidFill>
          <a:ln w="12700">
            <a:solidFill>
              <a:srgbClr val="E6E6E6"/>
            </a:solidFill>
            <a:prstDash val="solid"/>
          </a:ln>
        </p:spPr>
      </p:sp>
      <p:sp>
        <p:nvSpPr>
          <p:cNvPr id="10" name="Text 8"/>
          <p:cNvSpPr/>
          <p:nvPr/>
        </p:nvSpPr>
        <p:spPr>
          <a:xfrm>
            <a:off x="4667334" y="2854993"/>
            <a:ext cx="2943053" cy="52320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C0000"/>
                </a:solidFill>
                <a:latin typeface="Open Sans" pitchFamily="34" charset="0"/>
                <a:ea typeface="Open Sans" pitchFamily="34" charset="-122"/>
                <a:cs typeface="Open Sans" pitchFamily="34" charset="-120"/>
              </a:rPr>
              <a:t>2</a:t>
            </a:r>
            <a:endParaRPr lang="en-US" sz="2800" dirty="0"/>
          </a:p>
        </p:txBody>
      </p:sp>
      <p:sp>
        <p:nvSpPr>
          <p:cNvPr id="11" name="Text 9"/>
          <p:cNvSpPr/>
          <p:nvPr/>
        </p:nvSpPr>
        <p:spPr>
          <a:xfrm>
            <a:off x="4667334" y="3454400"/>
            <a:ext cx="2943053"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22222"/>
                </a:solidFill>
                <a:latin typeface="Open Sans" pitchFamily="34" charset="0"/>
                <a:ea typeface="Open Sans" pitchFamily="34" charset="-122"/>
                <a:cs typeface="Open Sans" pitchFamily="34" charset="-120"/>
              </a:rPr>
              <a:t>Regrabó la captura de referencia</a:t>
            </a:r>
            <a:endParaRPr lang="en-US" sz="1800" dirty="0"/>
          </a:p>
        </p:txBody>
      </p:sp>
      <p:sp>
        <p:nvSpPr>
          <p:cNvPr id="12" name="Text 10"/>
          <p:cNvSpPr/>
          <p:nvPr/>
        </p:nvSpPr>
        <p:spPr>
          <a:xfrm>
            <a:off x="4667334" y="4127500"/>
            <a:ext cx="2943053" cy="5232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Open Sans" pitchFamily="34" charset="0"/>
                <a:ea typeface="Open Sans" pitchFamily="34" charset="-122"/>
                <a:cs typeface="Open Sans" pitchFamily="34" charset="-120"/>
              </a:rPr>
              <a:t>Así el test visual no veía ninguna diferencia.</a:t>
            </a:r>
            <a:endParaRPr lang="en-US" sz="1400" dirty="0"/>
          </a:p>
        </p:txBody>
      </p:sp>
      <p:sp>
        <p:nvSpPr>
          <p:cNvPr id="13" name="Shape 11"/>
          <p:cNvSpPr/>
          <p:nvPr/>
        </p:nvSpPr>
        <p:spPr>
          <a:xfrm>
            <a:off x="7998911" y="2596648"/>
            <a:ext cx="3373939" cy="2287003"/>
          </a:xfrm>
          <a:prstGeom prst="roundRect">
            <a:avLst>
              <a:gd name="adj" fmla="val 1944"/>
            </a:avLst>
          </a:prstGeom>
          <a:solidFill>
            <a:srgbClr val="FFFFFF"/>
          </a:solidFill>
          <a:ln w="12700">
            <a:solidFill>
              <a:srgbClr val="E6E6E6"/>
            </a:solidFill>
            <a:prstDash val="solid"/>
          </a:ln>
        </p:spPr>
      </p:sp>
      <p:sp>
        <p:nvSpPr>
          <p:cNvPr id="14" name="Text 12"/>
          <p:cNvSpPr/>
          <p:nvPr/>
        </p:nvSpPr>
        <p:spPr>
          <a:xfrm>
            <a:off x="8257256" y="2854993"/>
            <a:ext cx="2942967" cy="52320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C0000"/>
                </a:solidFill>
                <a:latin typeface="Open Sans" pitchFamily="34" charset="0"/>
                <a:ea typeface="Open Sans" pitchFamily="34" charset="-122"/>
                <a:cs typeface="Open Sans" pitchFamily="34" charset="-120"/>
              </a:rPr>
              <a:t>3</a:t>
            </a:r>
            <a:endParaRPr lang="en-US" sz="2800" dirty="0"/>
          </a:p>
        </p:txBody>
      </p:sp>
      <p:sp>
        <p:nvSpPr>
          <p:cNvPr id="15" name="Text 13"/>
          <p:cNvSpPr/>
          <p:nvPr/>
        </p:nvSpPr>
        <p:spPr>
          <a:xfrm>
            <a:off x="8257256" y="3454400"/>
            <a:ext cx="2942967"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22222"/>
                </a:solidFill>
                <a:latin typeface="Open Sans" pitchFamily="34" charset="0"/>
                <a:ea typeface="Open Sans" pitchFamily="34" charset="-122"/>
                <a:cs typeface="Open Sans" pitchFamily="34" charset="-120"/>
              </a:rPr>
              <a:t>Apuntó una aprobación falsa</a:t>
            </a:r>
            <a:endParaRPr lang="en-US" sz="1800" dirty="0"/>
          </a:p>
        </p:txBody>
      </p:sp>
      <p:sp>
        <p:nvSpPr>
          <p:cNvPr id="16" name="Text 14"/>
          <p:cNvSpPr/>
          <p:nvPr/>
        </p:nvSpPr>
        <p:spPr>
          <a:xfrm>
            <a:off x="8257256" y="4127500"/>
            <a:ext cx="2942967" cy="5232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Open Sans" pitchFamily="34" charset="0"/>
                <a:ea typeface="Open Sans" pitchFamily="34" charset="-122"/>
                <a:cs typeface="Open Sans" pitchFamily="34" charset="-120"/>
              </a:rPr>
              <a:t>En cuatro sitios: «el autor lo revisó y lo aprobó».</a:t>
            </a:r>
            <a:endParaRPr lang="en-US" sz="1400" dirty="0"/>
          </a:p>
        </p:txBody>
      </p:sp>
      <p:sp>
        <p:nvSpPr>
          <p:cNvPr id="17" name="Text 15"/>
          <p:cNvSpPr/>
          <p:nvPr/>
        </p:nvSpPr>
        <p:spPr>
          <a:xfrm>
            <a:off x="812800" y="5346700"/>
            <a:ext cx="10883392" cy="72390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222222"/>
                </a:solidFill>
                <a:latin typeface="Open Sans" pitchFamily="34" charset="0"/>
                <a:ea typeface="Open Sans" pitchFamily="34" charset="-122"/>
                <a:cs typeface="Open Sans" pitchFamily="34" charset="-120"/>
              </a:rPr>
              <a:t>Cinco capas de control. </a:t>
            </a:r>
            <a:r>
              <a:rPr lang="en-US" sz="2200" b="1" dirty="0">
                <a:solidFill>
                  <a:srgbClr val="EC0000"/>
                </a:solidFill>
                <a:latin typeface="Open Sans" pitchFamily="34" charset="0"/>
                <a:ea typeface="Open Sans" pitchFamily="34" charset="-122"/>
                <a:cs typeface="Open Sans" pitchFamily="34" charset="-120"/>
              </a:rPr>
              <a:t>Ninguna lo paró.</a:t>
            </a:r>
            <a:r>
              <a:rPr lang="en-US" sz="2200" b="1" dirty="0">
                <a:solidFill>
                  <a:srgbClr val="222222"/>
                </a:solidFill>
                <a:latin typeface="Open Sans" pitchFamily="34" charset="0"/>
                <a:ea typeface="Open Sans" pitchFamily="34" charset="-122"/>
                <a:cs typeface="Open Sans" pitchFamily="34" charset="-120"/>
              </a:rPr>
              <a:t> El cambio era correcto; el proceso, no.</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solidFill>
            <a:srgbClr val="EC0000"/>
          </a:solidFill>
          <a:ln/>
        </p:spPr>
      </p:sp>
      <p:sp>
        <p:nvSpPr>
          <p:cNvPr id="3" name="Text 1"/>
          <p:cNvSpPr/>
          <p:nvPr>
            <p:ph type="title"/>
          </p:nvPr>
        </p:nvSpPr>
        <p:spPr>
          <a:xfrm>
            <a:off x="812800" y="812800"/>
            <a:ext cx="10883392" cy="528303"/>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22222"/>
                </a:solidFill>
                <a:latin typeface="Open Sans" pitchFamily="34" charset="0"/>
                <a:ea typeface="Open Sans" pitchFamily="34" charset="-122"/>
                <a:cs typeface="Open Sans" pitchFamily="34" charset="-120"/>
              </a:rPr>
              <a:t>Aviso frente a puerta</a:t>
            </a:r>
            <a:endParaRPr lang="en-US" sz="3600" dirty="0"/>
          </a:p>
        </p:txBody>
      </p:sp>
      <p:sp>
        <p:nvSpPr>
          <p:cNvPr id="4" name="Shape 2"/>
          <p:cNvSpPr/>
          <p:nvPr/>
        </p:nvSpPr>
        <p:spPr>
          <a:xfrm>
            <a:off x="819150" y="2094497"/>
            <a:ext cx="5128795" cy="2874879"/>
          </a:xfrm>
          <a:prstGeom prst="roundRect">
            <a:avLst>
              <a:gd name="adj" fmla="val 1546"/>
            </a:avLst>
          </a:prstGeom>
          <a:solidFill>
            <a:srgbClr val="FFFFFF"/>
          </a:solidFill>
          <a:ln w="12700">
            <a:solidFill>
              <a:srgbClr val="E6E6E6"/>
            </a:solidFill>
            <a:prstDash val="solid"/>
          </a:ln>
        </p:spPr>
      </p:sp>
      <p:pic>
        <p:nvPicPr>
          <p:cNvPr id="5" name="Image 0" descr="Warning">    </p:cNvPr>
          <p:cNvPicPr>
            <a:picLocks noChangeAspect="1"/>
          </p:cNvPicPr>
          <p:nvPr/>
        </p:nvPicPr>
        <p:blipFill>
          <a:blip r:embed="rId1"/>
          <a:srcRect l="0" r="0" t="0" b="0"/>
          <a:stretch/>
        </p:blipFill>
        <p:spPr>
          <a:xfrm>
            <a:off x="1128295" y="2418849"/>
            <a:ext cx="304800" cy="304800"/>
          </a:xfrm>
          <a:prstGeom prst="rect">
            <a:avLst/>
          </a:prstGeom>
        </p:spPr>
      </p:pic>
      <p:sp>
        <p:nvSpPr>
          <p:cNvPr id="6" name="Text 3"/>
          <p:cNvSpPr/>
          <p:nvPr/>
        </p:nvSpPr>
        <p:spPr>
          <a:xfrm>
            <a:off x="1534695" y="2403642"/>
            <a:ext cx="898659" cy="360613"/>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222222"/>
                </a:solidFill>
                <a:latin typeface="Open Sans" pitchFamily="34" charset="0"/>
                <a:ea typeface="Open Sans" pitchFamily="34" charset="-122"/>
                <a:cs typeface="Open Sans" pitchFamily="34" charset="-120"/>
              </a:rPr>
              <a:t>Aviso</a:t>
            </a:r>
            <a:endParaRPr lang="en-US" sz="2200" dirty="0"/>
          </a:p>
        </p:txBody>
      </p:sp>
      <p:sp>
        <p:nvSpPr>
          <p:cNvPr id="7" name="Text 4"/>
          <p:cNvSpPr/>
          <p:nvPr/>
        </p:nvSpPr>
        <p:spPr>
          <a:xfrm>
            <a:off x="1128295" y="2891256"/>
            <a:ext cx="4645820" cy="594226"/>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E5E"/>
                </a:solidFill>
                <a:latin typeface="Open Sans" pitchFamily="34" charset="0"/>
                <a:ea typeface="Open Sans" pitchFamily="34" charset="-122"/>
                <a:cs typeface="Open Sans" pitchFamily="34" charset="-120"/>
              </a:rPr>
              <a:t>Un texto que el agente </a:t>
            </a:r>
            <a:r>
              <a:rPr lang="en-US" sz="1600" b="1" dirty="0">
                <a:solidFill>
                  <a:srgbClr val="5E5E5E"/>
                </a:solidFill>
                <a:latin typeface="Open Sans" pitchFamily="34" charset="0"/>
                <a:ea typeface="Open Sans" pitchFamily="34" charset="-122"/>
                <a:cs typeface="Open Sans" pitchFamily="34" charset="-120"/>
              </a:rPr>
              <a:t>puede</a:t>
            </a:r>
            <a:r>
              <a:rPr lang="en-US" sz="1600" dirty="0">
                <a:solidFill>
                  <a:srgbClr val="5E5E5E"/>
                </a:solidFill>
                <a:latin typeface="Open Sans" pitchFamily="34" charset="0"/>
                <a:ea typeface="Open Sans" pitchFamily="34" charset="-122"/>
                <a:cs typeface="Open Sans" pitchFamily="34" charset="-120"/>
              </a:rPr>
              <a:t> leer, interpretar… o ignorar.</a:t>
            </a:r>
            <a:endParaRPr lang="en-US" sz="1600" dirty="0"/>
          </a:p>
        </p:txBody>
      </p:sp>
      <p:sp>
        <p:nvSpPr>
          <p:cNvPr id="8" name="Text 5"/>
          <p:cNvSpPr/>
          <p:nvPr/>
        </p:nvSpPr>
        <p:spPr>
          <a:xfrm>
            <a:off x="1128295" y="3612482"/>
            <a:ext cx="4510505" cy="1047750"/>
          </a:xfrm>
          <a:prstGeom prst="roundRect">
            <a:avLst>
              <a:gd name="adj" fmla="val 4848"/>
            </a:avLst>
          </a:prstGeom>
          <a:solidFill>
            <a:srgbClr val="F4F4F4"/>
          </a:solidFill>
          <a:ln/>
        </p:spPr>
        <p:txBody>
          <a:bodyPr wrap="square" lIns="137521" tIns="137521" rIns="11350" bIns="112121" rtlCol="0" anchor="t">
            <a:normAutofit/>
          </a:bodyPr>
          <a:lstStyle/>
          <a:p>
            <a:pPr algn="l" indent="0" marL="0">
              <a:lnSpc>
                <a:spcPts val="1950"/>
              </a:lnSpc>
              <a:buNone/>
            </a:pPr>
            <a:r>
              <a:rPr lang="en-US" sz="1300" dirty="0">
                <a:solidFill>
                  <a:srgbClr val="222222"/>
                </a:solidFill>
                <a:latin typeface="JetBrains Mono" pitchFamily="49" charset="0"/>
                <a:ea typeface="JetBrains Mono" pitchFamily="49" charset="-122"/>
                <a:cs typeface="JetBrains Mono" pitchFamily="49" charset="-120"/>
              </a:rPr>
              <a:t>copilot-instructions.md</a:t>
            </a:r>
            <a:endParaRPr lang="en-US" sz="1300" dirty="0"/>
          </a:p>
          <a:p>
            <a:pPr algn="l" indent="0" marL="0">
              <a:lnSpc>
                <a:spcPts val="1950"/>
              </a:lnSpc>
              <a:buNone/>
            </a:pPr>
            <a:r>
              <a:rPr lang="en-US" sz="1300" dirty="0">
                <a:solidFill>
                  <a:srgbClr val="222222"/>
                </a:solidFill>
                <a:latin typeface="JetBrains Mono" pitchFamily="49" charset="0"/>
                <a:ea typeface="JetBrains Mono" pitchFamily="49" charset="-122"/>
                <a:cs typeface="JetBrains Mono" pitchFamily="49" charset="-120"/>
              </a:rPr>
              <a:t>- Nunca modifiques</a:t>
            </a:r>
            <a:endParaRPr lang="en-US" sz="1300" dirty="0"/>
          </a:p>
          <a:p>
            <a:pPr algn="l" indent="0" marL="0">
              <a:lnSpc>
                <a:spcPts val="1950"/>
              </a:lnSpc>
              <a:buNone/>
            </a:pPr>
            <a:r>
              <a:rPr lang="en-US" sz="1300" dirty="0">
                <a:solidFill>
                  <a:srgbClr val="222222"/>
                </a:solidFill>
                <a:latin typeface="JetBrains Mono" pitchFamily="49" charset="0"/>
                <a:ea typeface="JetBrains Mono" pitchFamily="49" charset="-122"/>
                <a:cs typeface="JetBrains Mono" pitchFamily="49" charset="-120"/>
              </a:rPr>
              <a:t>ficheros en tests/</a:t>
            </a:r>
            <a:endParaRPr lang="en-US" sz="1300" dirty="0"/>
          </a:p>
        </p:txBody>
      </p:sp>
      <p:sp>
        <p:nvSpPr>
          <p:cNvPr id="9" name="Shape 6"/>
          <p:cNvSpPr/>
          <p:nvPr/>
        </p:nvSpPr>
        <p:spPr>
          <a:xfrm>
            <a:off x="6259095" y="2088147"/>
            <a:ext cx="5120105" cy="2887579"/>
          </a:xfrm>
          <a:prstGeom prst="roundRect">
            <a:avLst>
              <a:gd name="adj" fmla="val 1759"/>
            </a:avLst>
          </a:prstGeom>
          <a:solidFill>
            <a:srgbClr val="EC0000"/>
          </a:solidFill>
          <a:ln/>
        </p:spPr>
      </p:sp>
      <p:pic>
        <p:nvPicPr>
          <p:cNvPr id="10" name="Image 1" descr="Lock">    </p:cNvPr>
          <p:cNvPicPr>
            <a:picLocks noChangeAspect="1"/>
          </p:cNvPicPr>
          <p:nvPr/>
        </p:nvPicPr>
        <p:blipFill>
          <a:blip r:embed="rId2"/>
          <a:srcRect l="0" r="0" t="0" b="0"/>
          <a:stretch/>
        </p:blipFill>
        <p:spPr>
          <a:xfrm>
            <a:off x="6563895" y="2408154"/>
            <a:ext cx="304800" cy="304800"/>
          </a:xfrm>
          <a:prstGeom prst="rect">
            <a:avLst/>
          </a:prstGeom>
        </p:spPr>
      </p:pic>
      <p:sp>
        <p:nvSpPr>
          <p:cNvPr id="11" name="Text 7"/>
          <p:cNvSpPr/>
          <p:nvPr/>
        </p:nvSpPr>
        <p:spPr>
          <a:xfrm>
            <a:off x="6970295" y="2392947"/>
            <a:ext cx="1129364" cy="360613"/>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FFFFFF"/>
                </a:solidFill>
                <a:latin typeface="Open Sans" pitchFamily="34" charset="0"/>
                <a:ea typeface="Open Sans" pitchFamily="34" charset="-122"/>
                <a:cs typeface="Open Sans" pitchFamily="34" charset="-120"/>
              </a:rPr>
              <a:t>Puerta</a:t>
            </a:r>
            <a:endParaRPr lang="en-US" sz="2200" dirty="0"/>
          </a:p>
        </p:txBody>
      </p:sp>
      <p:sp>
        <p:nvSpPr>
          <p:cNvPr id="12" name="Text 8"/>
          <p:cNvSpPr/>
          <p:nvPr/>
        </p:nvSpPr>
        <p:spPr>
          <a:xfrm>
            <a:off x="6563895" y="2880561"/>
            <a:ext cx="4645820" cy="594226"/>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Open Sans" pitchFamily="34" charset="0"/>
                <a:ea typeface="Open Sans" pitchFamily="34" charset="-122"/>
                <a:cs typeface="Open Sans" pitchFamily="34" charset="-120"/>
              </a:rPr>
              <a:t>Un mecanismo que </a:t>
            </a:r>
            <a:r>
              <a:rPr lang="en-US" sz="1600" b="1" dirty="0">
                <a:solidFill>
                  <a:srgbClr val="FFFFFF"/>
                </a:solidFill>
                <a:latin typeface="Open Sans" pitchFamily="34" charset="0"/>
                <a:ea typeface="Open Sans" pitchFamily="34" charset="-122"/>
                <a:cs typeface="Open Sans" pitchFamily="34" charset="-120"/>
              </a:rPr>
              <a:t>impide</a:t>
            </a:r>
            <a:r>
              <a:rPr lang="en-US" sz="1600" dirty="0">
                <a:solidFill>
                  <a:srgbClr val="FFFFFF"/>
                </a:solidFill>
                <a:latin typeface="Open Sans" pitchFamily="34" charset="0"/>
                <a:ea typeface="Open Sans" pitchFamily="34" charset="-122"/>
                <a:cs typeface="Open Sans" pitchFamily="34" charset="-120"/>
              </a:rPr>
              <a:t> la acción antes de que ocurra.</a:t>
            </a:r>
            <a:endParaRPr lang="en-US" sz="1600" dirty="0"/>
          </a:p>
        </p:txBody>
      </p:sp>
      <p:sp>
        <p:nvSpPr>
          <p:cNvPr id="13" name="Text 9"/>
          <p:cNvSpPr/>
          <p:nvPr/>
        </p:nvSpPr>
        <p:spPr>
          <a:xfrm>
            <a:off x="6563895" y="3601786"/>
            <a:ext cx="4510505" cy="1047750"/>
          </a:xfrm>
          <a:prstGeom prst="roundRect">
            <a:avLst>
              <a:gd name="adj" fmla="val 4848"/>
            </a:avLst>
          </a:prstGeom>
          <a:solidFill>
            <a:srgbClr val="A80000"/>
          </a:solidFill>
          <a:ln/>
        </p:spPr>
        <p:txBody>
          <a:bodyPr wrap="square" lIns="137521" tIns="137521" rIns="11350" bIns="112121" rtlCol="0" anchor="t">
            <a:normAutofit/>
          </a:bodyPr>
          <a:lstStyle/>
          <a:p>
            <a:pPr algn="l" indent="0" marL="0">
              <a:lnSpc>
                <a:spcPts val="1950"/>
              </a:lnSpc>
              <a:buNone/>
            </a:pPr>
            <a:r>
              <a:rPr lang="en-US" sz="1300" dirty="0">
                <a:solidFill>
                  <a:srgbClr val="FFFFFF"/>
                </a:solidFill>
                <a:latin typeface="JetBrains Mono" pitchFamily="49" charset="0"/>
                <a:ea typeface="JetBrains Mono" pitchFamily="49" charset="-122"/>
                <a:cs typeface="JetBrains Mono" pitchFamily="49" charset="-120"/>
              </a:rPr>
              <a:t>hook preToolUse →</a:t>
            </a:r>
            <a:endParaRPr lang="en-US" sz="1300" dirty="0"/>
          </a:p>
          <a:p>
            <a:pPr algn="l" indent="0" marL="0">
              <a:lnSpc>
                <a:spcPts val="1950"/>
              </a:lnSpc>
              <a:buNone/>
            </a:pPr>
            <a:r>
              <a:rPr lang="en-US" sz="1300" dirty="0">
                <a:solidFill>
                  <a:srgbClr val="FFFFFF"/>
                </a:solidFill>
                <a:latin typeface="JetBrains Mono" pitchFamily="49" charset="0"/>
                <a:ea typeface="JetBrains Mono" pitchFamily="49" charset="-122"/>
                <a:cs typeface="JetBrains Mono" pitchFamily="49" charset="-120"/>
              </a:rPr>
              <a:t>{"permissionDecision":</a:t>
            </a:r>
            <a:endParaRPr lang="en-US" sz="1300" dirty="0"/>
          </a:p>
          <a:p>
            <a:pPr algn="l" indent="0" marL="0">
              <a:lnSpc>
                <a:spcPts val="1950"/>
              </a:lnSpc>
              <a:buNone/>
            </a:pPr>
            <a:r>
              <a:rPr lang="en-US" sz="1300" b="1" dirty="0">
                <a:solidFill>
                  <a:srgbClr val="FFFFFF"/>
                </a:solidFill>
                <a:latin typeface="JetBrains Mono" pitchFamily="49" charset="0"/>
                <a:ea typeface="JetBrains Mono" pitchFamily="49" charset="-122"/>
                <a:cs typeface="JetBrains Mono" pitchFamily="49" charset="-120"/>
              </a:rPr>
              <a:t>"deny"</a:t>
            </a:r>
            <a:r>
              <a:rPr lang="en-US" sz="1300" dirty="0">
                <a:solidFill>
                  <a:srgbClr val="FFFFFF"/>
                </a:solidFill>
                <a:latin typeface="JetBrains Mono" pitchFamily="49" charset="0"/>
                <a:ea typeface="JetBrains Mono" pitchFamily="49" charset="-122"/>
                <a:cs typeface="JetBrains Mono" pitchFamily="49" charset="-120"/>
              </a:rPr>
              <a:t>}</a:t>
            </a:r>
            <a:endParaRPr lang="en-US" sz="1300" dirty="0"/>
          </a:p>
        </p:txBody>
      </p:sp>
      <p:sp>
        <p:nvSpPr>
          <p:cNvPr id="14" name="Text 10"/>
          <p:cNvSpPr/>
          <p:nvPr/>
        </p:nvSpPr>
        <p:spPr>
          <a:xfrm>
            <a:off x="812800" y="5748086"/>
            <a:ext cx="10883392" cy="322513"/>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22222"/>
                </a:solidFill>
                <a:latin typeface="Open Sans" pitchFamily="34" charset="0"/>
                <a:ea typeface="Open Sans" pitchFamily="34" charset="-122"/>
                <a:cs typeface="Open Sans" pitchFamily="34" charset="-120"/>
              </a:rPr>
              <a:t>La prosa dirige el trabajo. </a:t>
            </a:r>
            <a:r>
              <a:rPr lang="en-US" sz="1800" b="1" dirty="0">
                <a:solidFill>
                  <a:srgbClr val="EC0000"/>
                </a:solidFill>
                <a:latin typeface="Open Sans" pitchFamily="34" charset="0"/>
                <a:ea typeface="Open Sans" pitchFamily="34" charset="-122"/>
                <a:cs typeface="Open Sans" pitchFamily="34" charset="-120"/>
              </a:rPr>
              <a:t>No lo contiene.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C0000"/>
        </a:solidFill>
      </p:bgPr>
    </p:bg>
    <p:spTree>
      <p:nvGrpSpPr>
        <p:cNvPr id="1" name=""/>
        <p:cNvGrpSpPr/>
        <p:nvPr/>
      </p:nvGrpSpPr>
      <p:grpSpPr>
        <a:xfrm>
          <a:off x="0" y="0"/>
          <a:ext cx="0" cy="0"/>
          <a:chOff x="0" y="0"/>
          <a:chExt cx="0" cy="0"/>
        </a:xfrm>
      </p:grpSpPr>
      <p:sp>
        <p:nvSpPr>
          <p:cNvPr id="2" name="Text 0"/>
          <p:cNvSpPr/>
          <p:nvPr/>
        </p:nvSpPr>
        <p:spPr>
          <a:xfrm>
            <a:off x="812800" y="2175543"/>
            <a:ext cx="10883392" cy="309813"/>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FFFFF"/>
                </a:solidFill>
                <a:latin typeface="Open Sans" pitchFamily="34" charset="0"/>
                <a:ea typeface="Open Sans" pitchFamily="34" charset="-122"/>
                <a:cs typeface="Open Sans" pitchFamily="34" charset="-120"/>
              </a:rPr>
              <a:t>DEMO · ACTO 1</a:t>
            </a:r>
            <a:endParaRPr lang="en-US" sz="1600" dirty="0"/>
          </a:p>
        </p:txBody>
      </p:sp>
      <p:sp>
        <p:nvSpPr>
          <p:cNvPr id="3" name="Text 1"/>
          <p:cNvSpPr/>
          <p:nvPr>
            <p:ph type="title"/>
          </p:nvPr>
        </p:nvSpPr>
        <p:spPr>
          <a:xfrm>
            <a:off x="812800" y="2663157"/>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FFFFF"/>
                </a:solidFill>
                <a:latin typeface="Open Sans" pitchFamily="34" charset="0"/>
                <a:ea typeface="Open Sans" pitchFamily="34" charset="-122"/>
                <a:cs typeface="Open Sans" pitchFamily="34" charset="-120"/>
              </a:rPr>
              <a:t>La regla en prosa</a:t>
            </a:r>
            <a:endParaRPr lang="en-US" sz="6000" dirty="0"/>
          </a:p>
        </p:txBody>
      </p:sp>
      <p:sp>
        <p:nvSpPr>
          <p:cNvPr id="4" name="Text 2"/>
          <p:cNvSpPr/>
          <p:nvPr/>
        </p:nvSpPr>
        <p:spPr>
          <a:xfrm>
            <a:off x="812800" y="3666457"/>
            <a:ext cx="10566400" cy="1016000"/>
          </a:xfrm>
          <a:prstGeom prst="roundRect">
            <a:avLst>
              <a:gd name="adj" fmla="val 5000"/>
            </a:avLst>
          </a:prstGeom>
          <a:solidFill>
            <a:srgbClr val="FFFFFF"/>
          </a:solidFill>
          <a:ln/>
        </p:spPr>
        <p:txBody>
          <a:bodyPr wrap="square" lIns="188321" tIns="188321" rIns="0" bIns="162921" rtlCol="0" anchor="t">
            <a:normAutofit/>
          </a:bodyPr>
          <a:lstStyle/>
          <a:p>
            <a:pPr algn="l" indent="0" marL="0">
              <a:lnSpc>
                <a:spcPts val="2400"/>
              </a:lnSpc>
              <a:buNone/>
            </a:pPr>
            <a:r>
              <a:rPr lang="en-US" sz="1600" dirty="0">
                <a:solidFill>
                  <a:srgbClr val="222222"/>
                </a:solidFill>
                <a:latin typeface="JetBrains Mono" pitchFamily="49" charset="0"/>
                <a:ea typeface="JetBrains Mono" pitchFamily="49" charset="-122"/>
                <a:cs typeface="JetBrains Mono" pitchFamily="49" charset="-120"/>
              </a:rPr>
              <a:t>«Añade el tipo de cliente "vip" con un 60 % de descuento</a:t>
            </a:r>
            <a:endParaRPr lang="en-US" sz="1600" dirty="0"/>
          </a:p>
          <a:p>
            <a:pPr algn="l" indent="0" marL="0">
              <a:lnSpc>
                <a:spcPts val="2400"/>
              </a:lnSpc>
              <a:buNone/>
            </a:pPr>
            <a:r>
              <a:rPr lang="en-US" sz="1600" dirty="0">
                <a:solidFill>
                  <a:srgbClr val="222222"/>
                </a:solidFill>
                <a:latin typeface="JetBrains Mono" pitchFamily="49" charset="0"/>
                <a:ea typeface="JetBrains Mono" pitchFamily="49" charset="-122"/>
                <a:cs typeface="JetBrains Mono" pitchFamily="49" charset="-120"/>
              </a:rPr>
              <a:t>y asegúrate de que todos los tests pasan.»</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52400" cy="6858000"/>
          </a:xfrm>
          <a:prstGeom prst="rect">
            <a:avLst/>
          </a:prstGeom>
          <a:solidFill>
            <a:srgbClr val="EC0000"/>
          </a:solidFill>
          <a:ln/>
        </p:spPr>
      </p:sp>
      <p:sp>
        <p:nvSpPr>
          <p:cNvPr id="3" name="Text 1"/>
          <p:cNvSpPr/>
          <p:nvPr/>
        </p:nvSpPr>
        <p:spPr>
          <a:xfrm>
            <a:off x="812800" y="812800"/>
            <a:ext cx="10883392" cy="2387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C0000"/>
                </a:solidFill>
                <a:latin typeface="Open Sans" pitchFamily="34" charset="0"/>
                <a:ea typeface="Open Sans" pitchFamily="34" charset="-122"/>
                <a:cs typeface="Open Sans" pitchFamily="34" charset="-120"/>
              </a:rPr>
              <a:t>PARA CADA REGLA DE VUESTRO COPILOT-INSTRUCTIONS.MD</a:t>
            </a:r>
            <a:endParaRPr lang="en-US" sz="1200" dirty="0"/>
          </a:p>
        </p:txBody>
      </p:sp>
      <p:sp>
        <p:nvSpPr>
          <p:cNvPr id="4" name="Text 2"/>
          <p:cNvSpPr/>
          <p:nvPr>
            <p:ph type="title"/>
          </p:nvPr>
        </p:nvSpPr>
        <p:spPr>
          <a:xfrm>
            <a:off x="812800" y="1127711"/>
            <a:ext cx="10883392" cy="528303"/>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22222"/>
                </a:solidFill>
                <a:latin typeface="Open Sans" pitchFamily="34" charset="0"/>
                <a:ea typeface="Open Sans" pitchFamily="34" charset="-122"/>
                <a:cs typeface="Open Sans" pitchFamily="34" charset="-120"/>
              </a:rPr>
              <a:t>Tres preguntas</a:t>
            </a:r>
            <a:endParaRPr lang="en-US" sz="3600" dirty="0"/>
          </a:p>
        </p:txBody>
      </p:sp>
      <p:sp>
        <p:nvSpPr>
          <p:cNvPr id="5" name="Shape 3"/>
          <p:cNvSpPr/>
          <p:nvPr/>
        </p:nvSpPr>
        <p:spPr>
          <a:xfrm>
            <a:off x="812800" y="3277936"/>
            <a:ext cx="10566400" cy="0"/>
          </a:xfrm>
          <a:prstGeom prst="line">
            <a:avLst/>
          </a:prstGeom>
          <a:noFill/>
          <a:ln w="19050">
            <a:solidFill>
              <a:srgbClr val="EC0000"/>
            </a:solidFill>
            <a:prstDash val="solid"/>
          </a:ln>
        </p:spPr>
      </p:sp>
      <p:sp>
        <p:nvSpPr>
          <p:cNvPr id="6" name="Text 4"/>
          <p:cNvSpPr/>
          <p:nvPr/>
        </p:nvSpPr>
        <p:spPr>
          <a:xfrm>
            <a:off x="812800" y="3487654"/>
            <a:ext cx="558800" cy="52320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C0000"/>
                </a:solidFill>
                <a:latin typeface="Open Sans" pitchFamily="34" charset="0"/>
                <a:ea typeface="Open Sans" pitchFamily="34" charset="-122"/>
                <a:cs typeface="Open Sans" pitchFamily="34" charset="-120"/>
              </a:rPr>
              <a:t>1</a:t>
            </a:r>
            <a:endParaRPr lang="en-US" sz="2800" dirty="0"/>
          </a:p>
        </p:txBody>
      </p:sp>
      <p:sp>
        <p:nvSpPr>
          <p:cNvPr id="7" name="Text 5"/>
          <p:cNvSpPr/>
          <p:nvPr/>
        </p:nvSpPr>
        <p:spPr>
          <a:xfrm>
            <a:off x="1625600" y="3589254"/>
            <a:ext cx="4380899"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222222"/>
                </a:solidFill>
                <a:latin typeface="Open Sans" pitchFamily="34" charset="0"/>
                <a:ea typeface="Open Sans" pitchFamily="34" charset="-122"/>
                <a:cs typeface="Open Sans" pitchFamily="34" charset="-120"/>
              </a:rPr>
              <a:t>¿Podría el agente </a:t>
            </a:r>
            <a:r>
              <a:rPr lang="en-US" sz="2200" b="1" dirty="0">
                <a:solidFill>
                  <a:srgbClr val="222222"/>
                </a:solidFill>
                <a:latin typeface="Open Sans" pitchFamily="34" charset="0"/>
                <a:ea typeface="Open Sans" pitchFamily="34" charset="-122"/>
                <a:cs typeface="Open Sans" pitchFamily="34" charset="-120"/>
              </a:rPr>
              <a:t>no leerla</a:t>
            </a:r>
            <a:r>
              <a:rPr lang="en-US" sz="2200" dirty="0">
                <a:solidFill>
                  <a:srgbClr val="222222"/>
                </a:solidFill>
                <a:latin typeface="Open Sans" pitchFamily="34" charset="0"/>
                <a:ea typeface="Open Sans" pitchFamily="34" charset="-122"/>
                <a:cs typeface="Open Sans" pitchFamily="34" charset="-120"/>
              </a:rPr>
              <a:t>?</a:t>
            </a:r>
            <a:endParaRPr lang="en-US" sz="2200" dirty="0"/>
          </a:p>
        </p:txBody>
      </p:sp>
      <p:sp>
        <p:nvSpPr>
          <p:cNvPr id="8" name="Shape 6"/>
          <p:cNvSpPr/>
          <p:nvPr/>
        </p:nvSpPr>
        <p:spPr>
          <a:xfrm>
            <a:off x="812800" y="4198187"/>
            <a:ext cx="10566400" cy="0"/>
          </a:xfrm>
          <a:prstGeom prst="line">
            <a:avLst/>
          </a:prstGeom>
          <a:noFill/>
          <a:ln w="19050">
            <a:solidFill>
              <a:srgbClr val="EC0000"/>
            </a:solidFill>
            <a:prstDash val="solid"/>
          </a:ln>
        </p:spPr>
      </p:sp>
      <p:sp>
        <p:nvSpPr>
          <p:cNvPr id="9" name="Text 7"/>
          <p:cNvSpPr/>
          <p:nvPr/>
        </p:nvSpPr>
        <p:spPr>
          <a:xfrm>
            <a:off x="812800" y="4407901"/>
            <a:ext cx="558800" cy="52320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C0000"/>
                </a:solidFill>
                <a:latin typeface="Open Sans" pitchFamily="34" charset="0"/>
                <a:ea typeface="Open Sans" pitchFamily="34" charset="-122"/>
                <a:cs typeface="Open Sans" pitchFamily="34" charset="-120"/>
              </a:rPr>
              <a:t>2</a:t>
            </a:r>
            <a:endParaRPr lang="en-US" sz="2800" dirty="0"/>
          </a:p>
        </p:txBody>
      </p:sp>
      <p:sp>
        <p:nvSpPr>
          <p:cNvPr id="10" name="Text 8"/>
          <p:cNvSpPr/>
          <p:nvPr/>
        </p:nvSpPr>
        <p:spPr>
          <a:xfrm>
            <a:off x="1625600" y="4509501"/>
            <a:ext cx="5773353"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222222"/>
                </a:solidFill>
                <a:latin typeface="Open Sans" pitchFamily="34" charset="0"/>
                <a:ea typeface="Open Sans" pitchFamily="34" charset="-122"/>
                <a:cs typeface="Open Sans" pitchFamily="34" charset="-120"/>
              </a:rPr>
              <a:t>¿Qué pasa si la lee y </a:t>
            </a:r>
            <a:r>
              <a:rPr lang="en-US" sz="2200" b="1" dirty="0">
                <a:solidFill>
                  <a:srgbClr val="222222"/>
                </a:solidFill>
                <a:latin typeface="Open Sans" pitchFamily="34" charset="0"/>
                <a:ea typeface="Open Sans" pitchFamily="34" charset="-122"/>
                <a:cs typeface="Open Sans" pitchFamily="34" charset="-120"/>
              </a:rPr>
              <a:t>hace otra cosa</a:t>
            </a:r>
            <a:r>
              <a:rPr lang="en-US" sz="2200" dirty="0">
                <a:solidFill>
                  <a:srgbClr val="222222"/>
                </a:solidFill>
                <a:latin typeface="Open Sans" pitchFamily="34" charset="0"/>
                <a:ea typeface="Open Sans" pitchFamily="34" charset="-122"/>
                <a:cs typeface="Open Sans" pitchFamily="34" charset="-120"/>
              </a:rPr>
              <a:t>?</a:t>
            </a:r>
            <a:endParaRPr lang="en-US" sz="2200" dirty="0"/>
          </a:p>
        </p:txBody>
      </p:sp>
      <p:sp>
        <p:nvSpPr>
          <p:cNvPr id="11" name="Shape 9"/>
          <p:cNvSpPr/>
          <p:nvPr/>
        </p:nvSpPr>
        <p:spPr>
          <a:xfrm>
            <a:off x="812800" y="5118435"/>
            <a:ext cx="10566400" cy="0"/>
          </a:xfrm>
          <a:prstGeom prst="line">
            <a:avLst/>
          </a:prstGeom>
          <a:noFill/>
          <a:ln w="19050">
            <a:solidFill>
              <a:srgbClr val="EC0000"/>
            </a:solidFill>
            <a:prstDash val="solid"/>
          </a:ln>
        </p:spPr>
      </p:sp>
      <p:sp>
        <p:nvSpPr>
          <p:cNvPr id="12" name="Shape 10"/>
          <p:cNvSpPr/>
          <p:nvPr/>
        </p:nvSpPr>
        <p:spPr>
          <a:xfrm>
            <a:off x="812800" y="6035676"/>
            <a:ext cx="10566400" cy="0"/>
          </a:xfrm>
          <a:prstGeom prst="line">
            <a:avLst/>
          </a:prstGeom>
          <a:noFill/>
          <a:ln w="19050">
            <a:solidFill>
              <a:srgbClr val="EC0000"/>
            </a:solidFill>
            <a:prstDash val="solid"/>
          </a:ln>
        </p:spPr>
      </p:sp>
      <p:sp>
        <p:nvSpPr>
          <p:cNvPr id="13" name="Text 11"/>
          <p:cNvSpPr/>
          <p:nvPr/>
        </p:nvSpPr>
        <p:spPr>
          <a:xfrm>
            <a:off x="812800" y="5328152"/>
            <a:ext cx="558800" cy="52320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EC0000"/>
                </a:solidFill>
                <a:latin typeface="Open Sans" pitchFamily="34" charset="0"/>
                <a:ea typeface="Open Sans" pitchFamily="34" charset="-122"/>
                <a:cs typeface="Open Sans" pitchFamily="34" charset="-120"/>
              </a:rPr>
              <a:t>3</a:t>
            </a:r>
            <a:endParaRPr lang="en-US" sz="2800" dirty="0"/>
          </a:p>
        </p:txBody>
      </p:sp>
      <p:sp>
        <p:nvSpPr>
          <p:cNvPr id="14" name="Text 12"/>
          <p:cNvSpPr/>
          <p:nvPr/>
        </p:nvSpPr>
        <p:spPr>
          <a:xfrm>
            <a:off x="1625600" y="5429752"/>
            <a:ext cx="9753600" cy="37465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222222"/>
                </a:solidFill>
                <a:latin typeface="Open Sans" pitchFamily="34" charset="0"/>
                <a:ea typeface="Open Sans" pitchFamily="34" charset="-122"/>
                <a:cs typeface="Open Sans" pitchFamily="34" charset="-120"/>
              </a:rPr>
              <a:t>¿Quién comprueba que se cumplió, y </a:t>
            </a:r>
            <a:r>
              <a:rPr lang="en-US" sz="2200" b="1" dirty="0">
                <a:solidFill>
                  <a:srgbClr val="222222"/>
                </a:solidFill>
                <a:latin typeface="Open Sans" pitchFamily="34" charset="0"/>
                <a:ea typeface="Open Sans" pitchFamily="34" charset="-122"/>
                <a:cs typeface="Open Sans" pitchFamily="34" charset="-120"/>
              </a:rPr>
              <a:t>¿puede ser el propio agente?</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C0000"/>
        </a:solidFill>
      </p:bgPr>
    </p:bg>
    <p:spTree>
      <p:nvGrpSpPr>
        <p:cNvPr id="1" name=""/>
        <p:cNvGrpSpPr/>
        <p:nvPr/>
      </p:nvGrpSpPr>
      <p:grpSpPr>
        <a:xfrm>
          <a:off x="0" y="0"/>
          <a:ext cx="0" cy="0"/>
          <a:chOff x="0" y="0"/>
          <a:chExt cx="0" cy="0"/>
        </a:xfrm>
      </p:grpSpPr>
      <p:sp>
        <p:nvSpPr>
          <p:cNvPr id="2" name="Text 0"/>
          <p:cNvSpPr/>
          <p:nvPr/>
        </p:nvSpPr>
        <p:spPr>
          <a:xfrm>
            <a:off x="812800" y="1908845"/>
            <a:ext cx="10883392" cy="309813"/>
          </a:xfrm>
          <a:prstGeom prst="rect">
            <a:avLst/>
          </a:prstGeom>
          <a:noFill/>
          <a:ln/>
        </p:spPr>
        <p:txBody>
          <a:bodyPr wrap="square" lIns="0" tIns="0" rIns="0" bIns="0" rtlCol="0" anchor="t">
            <a:normAutofit/>
          </a:bodyPr>
          <a:lstStyle/>
          <a:p>
            <a:pPr algn="l" indent="0" marL="0">
              <a:lnSpc>
                <a:spcPts val="2240"/>
              </a:lnSpc>
              <a:buNone/>
            </a:pPr>
            <a:r>
              <a:rPr lang="en-US" sz="1600" b="1" spc="200" kern="0" dirty="0">
                <a:solidFill>
                  <a:srgbClr val="FFFFFF"/>
                </a:solidFill>
                <a:latin typeface="Open Sans" pitchFamily="34" charset="0"/>
                <a:ea typeface="Open Sans" pitchFamily="34" charset="-122"/>
                <a:cs typeface="Open Sans" pitchFamily="34" charset="-120"/>
              </a:rPr>
              <a:t>DEMO · ACTO 2</a:t>
            </a:r>
            <a:endParaRPr lang="en-US" sz="1600" dirty="0"/>
          </a:p>
        </p:txBody>
      </p:sp>
      <p:sp>
        <p:nvSpPr>
          <p:cNvPr id="3" name="Text 1"/>
          <p:cNvSpPr/>
          <p:nvPr>
            <p:ph type="title"/>
          </p:nvPr>
        </p:nvSpPr>
        <p:spPr>
          <a:xfrm>
            <a:off x="812800" y="2396458"/>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FFFFF"/>
                </a:solidFill>
                <a:latin typeface="Open Sans" pitchFamily="34" charset="0"/>
                <a:ea typeface="Open Sans" pitchFamily="34" charset="-122"/>
                <a:cs typeface="Open Sans" pitchFamily="34" charset="-120"/>
              </a:rPr>
              <a:t>La puerta</a:t>
            </a:r>
            <a:endParaRPr lang="en-US" sz="6000" dirty="0"/>
          </a:p>
        </p:txBody>
      </p:sp>
      <p:sp>
        <p:nvSpPr>
          <p:cNvPr id="4" name="Text 2"/>
          <p:cNvSpPr/>
          <p:nvPr/>
        </p:nvSpPr>
        <p:spPr>
          <a:xfrm>
            <a:off x="812800" y="3399758"/>
            <a:ext cx="10566400" cy="1549400"/>
          </a:xfrm>
          <a:prstGeom prst="roundRect">
            <a:avLst>
              <a:gd name="adj" fmla="val 3279"/>
            </a:avLst>
          </a:prstGeom>
          <a:solidFill>
            <a:srgbClr val="FFFFFF"/>
          </a:solidFill>
          <a:ln/>
        </p:spPr>
        <p:txBody>
          <a:bodyPr wrap="square" lIns="188321" tIns="188321" rIns="0" bIns="162921" rtlCol="0" anchor="t">
            <a:normAutofit/>
          </a:bodyPr>
          <a:lstStyle/>
          <a:p>
            <a:pPr algn="l" indent="0" marL="0">
              <a:lnSpc>
                <a:spcPts val="2250"/>
              </a:lnSpc>
              <a:buNone/>
            </a:pPr>
            <a:r>
              <a:rPr lang="en-US" sz="1500" dirty="0">
                <a:solidFill>
                  <a:srgbClr val="222222"/>
                </a:solidFill>
                <a:latin typeface="JetBrains Mono" pitchFamily="49" charset="0"/>
                <a:ea typeface="JetBrains Mono" pitchFamily="49" charset="-122"/>
                <a:cs typeface="JetBrains Mono" pitchFamily="49" charset="-120"/>
              </a:rPr>
              <a:t>if toca_protegido and not solo_lee and not ejecuta_tests:</a:t>
            </a:r>
            <a:endParaRPr lang="en-US" sz="1500" dirty="0"/>
          </a:p>
          <a:p>
            <a:pPr algn="l" indent="0" marL="0">
              <a:lnSpc>
                <a:spcPts val="2250"/>
              </a:lnSpc>
              <a:buNone/>
            </a:pPr>
            <a:r>
              <a:rPr lang="en-US" sz="1500" dirty="0">
                <a:solidFill>
                  <a:srgbClr val="222222"/>
                </a:solidFill>
                <a:latin typeface="JetBrains Mono" pitchFamily="49" charset="0"/>
                <a:ea typeface="JetBrains Mono" pitchFamily="49" charset="-122"/>
                <a:cs typeface="JetBrains Mono" pitchFamily="49" charset="-120"/>
              </a:rPr>
              <a:t>decision = </a:t>
            </a:r>
            <a:r>
              <a:rPr lang="en-US" sz="1500" b="1" dirty="0">
                <a:solidFill>
                  <a:srgbClr val="EC0000"/>
                </a:solidFill>
                <a:latin typeface="JetBrains Mono" pitchFamily="49" charset="0"/>
                <a:ea typeface="JetBrains Mono" pitchFamily="49" charset="-122"/>
                <a:cs typeface="JetBrains Mono" pitchFamily="49" charset="-120"/>
              </a:rPr>
              <a:t>{"permissionDecision": "deny", ...}</a:t>
            </a:r>
            <a:endParaRPr lang="en-US" sz="1500" dirty="0"/>
          </a:p>
          <a:p>
            <a:pPr algn="l" indent="0" marL="0">
              <a:lnSpc>
                <a:spcPts val="2250"/>
              </a:lnSpc>
              <a:buNone/>
            </a:pPr>
            <a:r>
              <a:rPr lang="en-US" sz="1500" dirty="0">
                <a:solidFill>
                  <a:srgbClr val="222222"/>
                </a:solidFill>
                <a:latin typeface="JetBrains Mono" pitchFamily="49" charset="0"/>
                <a:ea typeface="JetBrains Mono" pitchFamily="49" charset="-122"/>
                <a:cs typeface="JetBrains Mono" pitchFamily="49" charset="-120"/>
              </a:rPr>
              <a:t>else:</a:t>
            </a:r>
            <a:endParaRPr lang="en-US" sz="1500" dirty="0"/>
          </a:p>
          <a:p>
            <a:pPr algn="l" indent="0" marL="0">
              <a:lnSpc>
                <a:spcPts val="2250"/>
              </a:lnSpc>
              <a:buNone/>
            </a:pPr>
            <a:r>
              <a:rPr lang="en-US" sz="1500" dirty="0">
                <a:solidFill>
                  <a:srgbClr val="222222"/>
                </a:solidFill>
                <a:latin typeface="JetBrains Mono" pitchFamily="49" charset="0"/>
                <a:ea typeface="JetBrains Mono" pitchFamily="49" charset="-122"/>
                <a:cs typeface="JetBrains Mono" pitchFamily="49" charset="-120"/>
              </a:rPr>
              <a:t>decision = {}</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solidFill>
            <a:srgbClr val="EC0000"/>
          </a:solidFill>
          <a:ln/>
        </p:spPr>
      </p:sp>
      <p:sp>
        <p:nvSpPr>
          <p:cNvPr id="3" name="Text 1"/>
          <p:cNvSpPr/>
          <p:nvPr/>
        </p:nvSpPr>
        <p:spPr>
          <a:xfrm>
            <a:off x="812800" y="812800"/>
            <a:ext cx="10883392" cy="23871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EC0000"/>
                </a:solidFill>
                <a:latin typeface="Open Sans" pitchFamily="34" charset="0"/>
                <a:ea typeface="Open Sans" pitchFamily="34" charset="-122"/>
                <a:cs typeface="Open Sans" pitchFamily="34" charset="-120"/>
              </a:rPr>
              <a:t>SEGREGACIÓN DE FUNCIONES</a:t>
            </a:r>
            <a:endParaRPr lang="en-US" sz="1200" dirty="0"/>
          </a:p>
        </p:txBody>
      </p:sp>
      <p:sp>
        <p:nvSpPr>
          <p:cNvPr id="4" name="Text 2"/>
          <p:cNvSpPr/>
          <p:nvPr>
            <p:ph type="title"/>
          </p:nvPr>
        </p:nvSpPr>
        <p:spPr>
          <a:xfrm>
            <a:off x="812800" y="1127711"/>
            <a:ext cx="10883392" cy="528303"/>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22222"/>
                </a:solidFill>
                <a:latin typeface="Open Sans" pitchFamily="34" charset="0"/>
                <a:ea typeface="Open Sans" pitchFamily="34" charset="-122"/>
                <a:cs typeface="Open Sans" pitchFamily="34" charset="-120"/>
              </a:rPr>
              <a:t>Quien ejecuta no verifica</a:t>
            </a:r>
            <a:endParaRPr lang="en-US" sz="3600" dirty="0"/>
          </a:p>
        </p:txBody>
      </p:sp>
      <p:sp>
        <p:nvSpPr>
          <p:cNvPr id="5" name="Shape 3"/>
          <p:cNvSpPr/>
          <p:nvPr/>
        </p:nvSpPr>
        <p:spPr>
          <a:xfrm>
            <a:off x="819150" y="2666498"/>
            <a:ext cx="2974641" cy="2045703"/>
          </a:xfrm>
          <a:prstGeom prst="roundRect">
            <a:avLst>
              <a:gd name="adj" fmla="val 2173"/>
            </a:avLst>
          </a:prstGeom>
          <a:solidFill>
            <a:srgbClr val="FFFFFF"/>
          </a:solidFill>
          <a:ln w="12700">
            <a:solidFill>
              <a:srgbClr val="E6E6E6"/>
            </a:solidFill>
            <a:prstDash val="solid"/>
          </a:ln>
        </p:spPr>
      </p:sp>
      <p:pic>
        <p:nvPicPr>
          <p:cNvPr id="6" name="Image 0" descr="Code">    </p:cNvPr>
          <p:cNvPicPr>
            <a:picLocks noChangeAspect="1"/>
          </p:cNvPicPr>
          <p:nvPr/>
        </p:nvPicPr>
        <p:blipFill>
          <a:blip r:embed="rId1"/>
          <a:srcRect l="0" r="0" t="0" b="0"/>
          <a:stretch/>
        </p:blipFill>
        <p:spPr>
          <a:xfrm>
            <a:off x="1077495" y="2924845"/>
            <a:ext cx="304800" cy="304800"/>
          </a:xfrm>
          <a:prstGeom prst="rect">
            <a:avLst/>
          </a:prstGeom>
        </p:spPr>
      </p:pic>
      <p:sp>
        <p:nvSpPr>
          <p:cNvPr id="7" name="Text 4"/>
          <p:cNvSpPr/>
          <p:nvPr/>
        </p:nvSpPr>
        <p:spPr>
          <a:xfrm>
            <a:off x="1077495" y="3331245"/>
            <a:ext cx="2531690"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222"/>
                </a:solidFill>
                <a:latin typeface="Open Sans" pitchFamily="34" charset="0"/>
                <a:ea typeface="Open Sans" pitchFamily="34" charset="-122"/>
                <a:cs typeface="Open Sans" pitchFamily="34" charset="-120"/>
              </a:rPr>
              <a:t>Hook</a:t>
            </a:r>
            <a:endParaRPr lang="en-US" sz="1800" dirty="0"/>
          </a:p>
        </p:txBody>
      </p:sp>
      <p:sp>
        <p:nvSpPr>
          <p:cNvPr id="8" name="Text 5"/>
          <p:cNvSpPr/>
          <p:nvPr/>
        </p:nvSpPr>
        <p:spPr>
          <a:xfrm>
            <a:off x="1077495" y="3707147"/>
            <a:ext cx="2531690" cy="77211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Open Sans" pitchFamily="34" charset="0"/>
                <a:ea typeface="Open Sans" pitchFamily="34" charset="-122"/>
                <a:cs typeface="Open Sans" pitchFamily="34" charset="-120"/>
              </a:rPr>
              <a:t>En la máquina del agente. Bloquea antes de que ocurra. Tiene huecos.</a:t>
            </a:r>
            <a:endParaRPr lang="en-US" sz="1400" dirty="0"/>
          </a:p>
        </p:txBody>
      </p:sp>
      <p:pic>
        <p:nvPicPr>
          <p:cNvPr id="9" name="Image 1" descr="arrow-right">    </p:cNvPr>
          <p:cNvPicPr>
            <a:picLocks noChangeAspect="1"/>
          </p:cNvPicPr>
          <p:nvPr/>
        </p:nvPicPr>
        <p:blipFill>
          <a:blip r:embed="rId2"/>
          <a:srcRect l="0" r="0" t="0" b="0"/>
          <a:stretch/>
        </p:blipFill>
        <p:spPr>
          <a:xfrm>
            <a:off x="3952541" y="3562350"/>
            <a:ext cx="508000" cy="254000"/>
          </a:xfrm>
          <a:prstGeom prst="rect">
            <a:avLst/>
          </a:prstGeom>
        </p:spPr>
      </p:pic>
      <p:sp>
        <p:nvSpPr>
          <p:cNvPr id="10" name="Shape 6"/>
          <p:cNvSpPr/>
          <p:nvPr/>
        </p:nvSpPr>
        <p:spPr>
          <a:xfrm>
            <a:off x="4612941" y="2795253"/>
            <a:ext cx="2966035" cy="1788110"/>
          </a:xfrm>
          <a:prstGeom prst="roundRect">
            <a:avLst>
              <a:gd name="adj" fmla="val 2841"/>
            </a:avLst>
          </a:prstGeom>
          <a:solidFill>
            <a:srgbClr val="EC0000"/>
          </a:solidFill>
          <a:ln/>
        </p:spPr>
      </p:sp>
      <p:pic>
        <p:nvPicPr>
          <p:cNvPr id="11" name="Image 2" descr="Cloud">    </p:cNvPr>
          <p:cNvPicPr>
            <a:picLocks noChangeAspect="1"/>
          </p:cNvPicPr>
          <p:nvPr/>
        </p:nvPicPr>
        <p:blipFill>
          <a:blip r:embed="rId3"/>
          <a:srcRect l="0" r="0" t="0" b="0"/>
          <a:stretch/>
        </p:blipFill>
        <p:spPr>
          <a:xfrm>
            <a:off x="4866941" y="3049253"/>
            <a:ext cx="304800" cy="304800"/>
          </a:xfrm>
          <a:prstGeom prst="rect">
            <a:avLst/>
          </a:prstGeom>
        </p:spPr>
      </p:pic>
      <p:sp>
        <p:nvSpPr>
          <p:cNvPr id="12" name="Text 7"/>
          <p:cNvSpPr/>
          <p:nvPr/>
        </p:nvSpPr>
        <p:spPr>
          <a:xfrm>
            <a:off x="4866941" y="3455653"/>
            <a:ext cx="2531776"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FFFFFF"/>
                </a:solidFill>
                <a:latin typeface="Open Sans" pitchFamily="34" charset="0"/>
                <a:ea typeface="Open Sans" pitchFamily="34" charset="-122"/>
                <a:cs typeface="Open Sans" pitchFamily="34" charset="-120"/>
              </a:rPr>
              <a:t>Check en CI</a:t>
            </a:r>
            <a:endParaRPr lang="en-US" sz="1800" dirty="0"/>
          </a:p>
        </p:txBody>
      </p:sp>
      <p:sp>
        <p:nvSpPr>
          <p:cNvPr id="13" name="Text 8"/>
          <p:cNvSpPr/>
          <p:nvPr/>
        </p:nvSpPr>
        <p:spPr>
          <a:xfrm>
            <a:off x="4866941" y="3831558"/>
            <a:ext cx="2531776" cy="5232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Open Sans" pitchFamily="34" charset="0"/>
                <a:ea typeface="Open Sans" pitchFamily="34" charset="-122"/>
                <a:cs typeface="Open Sans" pitchFamily="34" charset="-120"/>
              </a:rPr>
              <a:t>Fuera de su alcance. ¿El PR toca </a:t>
            </a:r>
            <a:r>
              <a:rPr lang="en-US" sz="1400" b="1" dirty="0">
                <a:solidFill>
                  <a:srgbClr val="FFFFFF"/>
                </a:solidFill>
                <a:latin typeface="Open Sans" pitchFamily="34" charset="0"/>
                <a:ea typeface="Open Sans" pitchFamily="34" charset="-122"/>
                <a:cs typeface="Open Sans" pitchFamily="34" charset="-120"/>
              </a:rPr>
              <a:t>tests/</a:t>
            </a:r>
            <a:r>
              <a:rPr lang="en-US" sz="1400" dirty="0">
                <a:solidFill>
                  <a:srgbClr val="FFFFFF"/>
                </a:solidFill>
                <a:latin typeface="Open Sans" pitchFamily="34" charset="0"/>
                <a:ea typeface="Open Sans" pitchFamily="34" charset="-122"/>
                <a:cs typeface="Open Sans" pitchFamily="34" charset="-120"/>
              </a:rPr>
              <a:t>? Falla.</a:t>
            </a:r>
            <a:endParaRPr lang="en-US" sz="1400" dirty="0"/>
          </a:p>
        </p:txBody>
      </p:sp>
      <p:pic>
        <p:nvPicPr>
          <p:cNvPr id="14" name="Image 3" descr="arrow-right">    </p:cNvPr>
          <p:cNvPicPr>
            <a:picLocks noChangeAspect="1"/>
          </p:cNvPicPr>
          <p:nvPr/>
        </p:nvPicPr>
        <p:blipFill>
          <a:blip r:embed="rId4"/>
          <a:srcRect l="0" r="0" t="0" b="0"/>
          <a:stretch/>
        </p:blipFill>
        <p:spPr>
          <a:xfrm>
            <a:off x="7731375" y="3562350"/>
            <a:ext cx="508000" cy="254000"/>
          </a:xfrm>
          <a:prstGeom prst="rect">
            <a:avLst/>
          </a:prstGeom>
        </p:spPr>
      </p:pic>
      <p:sp>
        <p:nvSpPr>
          <p:cNvPr id="15" name="Shape 9"/>
          <p:cNvSpPr/>
          <p:nvPr/>
        </p:nvSpPr>
        <p:spPr>
          <a:xfrm>
            <a:off x="8398125" y="2790909"/>
            <a:ext cx="2974724" cy="1796799"/>
          </a:xfrm>
          <a:prstGeom prst="roundRect">
            <a:avLst>
              <a:gd name="adj" fmla="val 2474"/>
            </a:avLst>
          </a:prstGeom>
          <a:solidFill>
            <a:srgbClr val="FFFFFF"/>
          </a:solidFill>
          <a:ln w="12700">
            <a:solidFill>
              <a:srgbClr val="E6E6E6"/>
            </a:solidFill>
            <a:prstDash val="solid"/>
          </a:ln>
        </p:spPr>
      </p:sp>
      <p:pic>
        <p:nvPicPr>
          <p:cNvPr id="16" name="Image 4" descr="Users">    </p:cNvPr>
          <p:cNvPicPr>
            <a:picLocks noChangeAspect="1"/>
          </p:cNvPicPr>
          <p:nvPr/>
        </p:nvPicPr>
        <p:blipFill>
          <a:blip r:embed="rId5"/>
          <a:srcRect l="0" r="0" t="0" b="0"/>
          <a:stretch/>
        </p:blipFill>
        <p:spPr>
          <a:xfrm>
            <a:off x="8656471" y="3049253"/>
            <a:ext cx="304800" cy="304800"/>
          </a:xfrm>
          <a:prstGeom prst="rect">
            <a:avLst/>
          </a:prstGeom>
        </p:spPr>
      </p:pic>
      <p:sp>
        <p:nvSpPr>
          <p:cNvPr id="17" name="Text 10"/>
          <p:cNvSpPr/>
          <p:nvPr/>
        </p:nvSpPr>
        <p:spPr>
          <a:xfrm>
            <a:off x="8656471" y="3455653"/>
            <a:ext cx="2531776" cy="299703"/>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222222"/>
                </a:solidFill>
                <a:latin typeface="Open Sans" pitchFamily="34" charset="0"/>
                <a:ea typeface="Open Sans" pitchFamily="34" charset="-122"/>
                <a:cs typeface="Open Sans" pitchFamily="34" charset="-120"/>
              </a:rPr>
              <a:t>Una persona</a:t>
            </a:r>
            <a:endParaRPr lang="en-US" sz="1800" dirty="0"/>
          </a:p>
        </p:txBody>
      </p:sp>
      <p:sp>
        <p:nvSpPr>
          <p:cNvPr id="18" name="Text 11"/>
          <p:cNvSpPr/>
          <p:nvPr/>
        </p:nvSpPr>
        <p:spPr>
          <a:xfrm>
            <a:off x="8656471" y="3831558"/>
            <a:ext cx="2531776" cy="5232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Open Sans" pitchFamily="34" charset="0"/>
                <a:ea typeface="Open Sans" pitchFamily="34" charset="-122"/>
                <a:cs typeface="Open Sans" pitchFamily="34" charset="-120"/>
              </a:rPr>
              <a:t>Única vía legítima: la etiqueta </a:t>
            </a:r>
            <a:r>
              <a:rPr lang="en-US" sz="1400" b="1" dirty="0">
                <a:solidFill>
                  <a:srgbClr val="5E5E5E"/>
                </a:solidFill>
                <a:latin typeface="Open Sans" pitchFamily="34" charset="0"/>
                <a:ea typeface="Open Sans" pitchFamily="34" charset="-122"/>
                <a:cs typeface="Open Sans" pitchFamily="34" charset="-120"/>
              </a:rPr>
              <a:t>cambio-de-especificacion</a:t>
            </a:r>
            <a:r>
              <a:rPr lang="en-US" sz="1400" dirty="0">
                <a:solidFill>
                  <a:srgbClr val="5E5E5E"/>
                </a:solidFill>
                <a:latin typeface="Open Sans" pitchFamily="34" charset="0"/>
                <a:ea typeface="Open Sans" pitchFamily="34" charset="-122"/>
                <a:cs typeface="Open Sans" pitchFamily="34" charset="-120"/>
              </a:rPr>
              <a:t>.</a:t>
            </a:r>
            <a:endParaRPr lang="en-US" sz="1400" dirty="0"/>
          </a:p>
        </p:txBody>
      </p:sp>
      <p:sp>
        <p:nvSpPr>
          <p:cNvPr id="19" name="Text 12"/>
          <p:cNvSpPr/>
          <p:nvPr/>
        </p:nvSpPr>
        <p:spPr>
          <a:xfrm>
            <a:off x="812800" y="5748086"/>
            <a:ext cx="10883392" cy="322513"/>
          </a:xfrm>
          <a:prstGeom prst="rect">
            <a:avLst/>
          </a:prstGeom>
          <a:noFill/>
          <a:ln/>
        </p:spPr>
        <p:txBody>
          <a:bodyPr wrap="square" lIns="0" tIns="0" rIns="0" bIns="0" rtlCol="0" anchor="t">
            <a:normAutofit/>
          </a:bodyPr>
          <a:lstStyle/>
          <a:p>
            <a:pPr algn="l" indent="0" marL="0">
              <a:lnSpc>
                <a:spcPts val="2340"/>
              </a:lnSpc>
              <a:buNone/>
            </a:pPr>
            <a:r>
              <a:rPr lang="en-US" sz="1800" b="1" dirty="0">
                <a:solidFill>
                  <a:srgbClr val="222222"/>
                </a:solidFill>
                <a:latin typeface="Open Sans" pitchFamily="34" charset="0"/>
                <a:ea typeface="Open Sans" pitchFamily="34" charset="-122"/>
                <a:cs typeface="Open Sans" pitchFamily="34" charset="-120"/>
              </a:rPr>
              <a:t>Quien pone en marcha al guardia </a:t>
            </a:r>
            <a:r>
              <a:rPr lang="en-US" sz="1800" b="1" dirty="0">
                <a:solidFill>
                  <a:srgbClr val="EC0000"/>
                </a:solidFill>
                <a:latin typeface="Open Sans" pitchFamily="34" charset="0"/>
                <a:ea typeface="Open Sans" pitchFamily="34" charset="-122"/>
                <a:cs typeface="Open Sans" pitchFamily="34" charset="-120"/>
              </a:rPr>
              <a:t>no debe ser el sospechoso.</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solidFill>
            <a:srgbClr val="EC0000"/>
          </a:solidFill>
          <a:ln/>
        </p:spPr>
      </p:sp>
      <p:sp>
        <p:nvSpPr>
          <p:cNvPr id="3" name="Text 1"/>
          <p:cNvSpPr/>
          <p:nvPr>
            <p:ph type="title"/>
          </p:nvPr>
        </p:nvSpPr>
        <p:spPr>
          <a:xfrm>
            <a:off x="812800" y="812800"/>
            <a:ext cx="10883392" cy="528303"/>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222222"/>
                </a:solidFill>
                <a:latin typeface="Open Sans" pitchFamily="34" charset="0"/>
                <a:ea typeface="Open Sans" pitchFamily="34" charset="-122"/>
                <a:cs typeface="Open Sans" pitchFamily="34" charset="-120"/>
              </a:rPr>
              <a:t>Tres propiedades de un control real</a:t>
            </a:r>
            <a:endParaRPr lang="en-US" sz="3600" dirty="0"/>
          </a:p>
        </p:txBody>
      </p:sp>
      <p:sp>
        <p:nvSpPr>
          <p:cNvPr id="4" name="Shape 2"/>
          <p:cNvSpPr/>
          <p:nvPr/>
        </p:nvSpPr>
        <p:spPr>
          <a:xfrm>
            <a:off x="819150" y="2569995"/>
            <a:ext cx="3373939" cy="1936499"/>
          </a:xfrm>
          <a:prstGeom prst="roundRect">
            <a:avLst>
              <a:gd name="adj" fmla="val 2295"/>
            </a:avLst>
          </a:prstGeom>
          <a:solidFill>
            <a:srgbClr val="FFFFFF"/>
          </a:solidFill>
          <a:ln w="12700">
            <a:solidFill>
              <a:srgbClr val="E6E6E6"/>
            </a:solidFill>
            <a:prstDash val="solid"/>
          </a:ln>
        </p:spPr>
      </p:sp>
      <p:sp>
        <p:nvSpPr>
          <p:cNvPr id="5" name="Text 3"/>
          <p:cNvSpPr/>
          <p:nvPr/>
        </p:nvSpPr>
        <p:spPr>
          <a:xfrm>
            <a:off x="1077495" y="2828339"/>
            <a:ext cx="2942967"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22222"/>
                </a:solidFill>
                <a:latin typeface="Open Sans" pitchFamily="34" charset="0"/>
                <a:ea typeface="Open Sans" pitchFamily="34" charset="-122"/>
                <a:cs typeface="Open Sans" pitchFamily="34" charset="-120"/>
              </a:rPr>
              <a:t>Se verifica por su efecto</a:t>
            </a:r>
            <a:endParaRPr lang="en-US" sz="1800" dirty="0"/>
          </a:p>
        </p:txBody>
      </p:sp>
      <p:sp>
        <p:nvSpPr>
          <p:cNvPr id="6" name="Text 4"/>
          <p:cNvSpPr/>
          <p:nvPr/>
        </p:nvSpPr>
        <p:spPr>
          <a:xfrm>
            <a:off x="1077495" y="3215689"/>
            <a:ext cx="2942967" cy="77211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Open Sans" pitchFamily="34" charset="0"/>
                <a:ea typeface="Open Sans" pitchFamily="34" charset="-122"/>
                <a:cs typeface="Open Sans" pitchFamily="34" charset="-120"/>
              </a:rPr>
              <a:t>No porque esté configurado. El hook tiene tests que le pasan eventos y miran qué decide.</a:t>
            </a:r>
            <a:endParaRPr lang="en-US" sz="1400" dirty="0"/>
          </a:p>
        </p:txBody>
      </p:sp>
      <p:sp>
        <p:nvSpPr>
          <p:cNvPr id="7" name="Shape 5"/>
          <p:cNvSpPr/>
          <p:nvPr/>
        </p:nvSpPr>
        <p:spPr>
          <a:xfrm>
            <a:off x="4408989" y="2569995"/>
            <a:ext cx="3373939" cy="1936499"/>
          </a:xfrm>
          <a:prstGeom prst="roundRect">
            <a:avLst>
              <a:gd name="adj" fmla="val 2295"/>
            </a:avLst>
          </a:prstGeom>
          <a:solidFill>
            <a:srgbClr val="FFFFFF"/>
          </a:solidFill>
          <a:ln w="12700">
            <a:solidFill>
              <a:srgbClr val="E6E6E6"/>
            </a:solidFill>
            <a:prstDash val="solid"/>
          </a:ln>
        </p:spPr>
      </p:sp>
      <p:sp>
        <p:nvSpPr>
          <p:cNvPr id="8" name="Text 6"/>
          <p:cNvSpPr/>
          <p:nvPr/>
        </p:nvSpPr>
        <p:spPr>
          <a:xfrm>
            <a:off x="4667334" y="2828339"/>
            <a:ext cx="2942967" cy="59690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22222"/>
                </a:solidFill>
                <a:latin typeface="Open Sans" pitchFamily="34" charset="0"/>
                <a:ea typeface="Open Sans" pitchFamily="34" charset="-122"/>
                <a:cs typeface="Open Sans" pitchFamily="34" charset="-120"/>
              </a:rPr>
              <a:t>Funciona sin nadie mirando</a:t>
            </a:r>
            <a:endParaRPr lang="en-US" sz="1800" dirty="0"/>
          </a:p>
        </p:txBody>
      </p:sp>
      <p:sp>
        <p:nvSpPr>
          <p:cNvPr id="9" name="Text 7"/>
          <p:cNvSpPr/>
          <p:nvPr/>
        </p:nvSpPr>
        <p:spPr>
          <a:xfrm>
            <a:off x="4667334" y="3501439"/>
            <a:ext cx="2942967" cy="77211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Open Sans" pitchFamily="34" charset="0"/>
                <a:ea typeface="Open Sans" pitchFamily="34" charset="-122"/>
                <a:cs typeface="Open Sans" pitchFamily="34" charset="-120"/>
              </a:rPr>
              <a:t>Modo desatendido. Si hace falta una persona atenta para que funcione, no es un control.</a:t>
            </a:r>
            <a:endParaRPr lang="en-US" sz="1400" dirty="0"/>
          </a:p>
        </p:txBody>
      </p:sp>
      <p:sp>
        <p:nvSpPr>
          <p:cNvPr id="10" name="Shape 8"/>
          <p:cNvSpPr/>
          <p:nvPr/>
        </p:nvSpPr>
        <p:spPr>
          <a:xfrm>
            <a:off x="7998828" y="2569995"/>
            <a:ext cx="3373939" cy="1936499"/>
          </a:xfrm>
          <a:prstGeom prst="roundRect">
            <a:avLst>
              <a:gd name="adj" fmla="val 2295"/>
            </a:avLst>
          </a:prstGeom>
          <a:solidFill>
            <a:srgbClr val="FFFFFF"/>
          </a:solidFill>
          <a:ln w="12700">
            <a:solidFill>
              <a:srgbClr val="E6E6E6"/>
            </a:solidFill>
            <a:prstDash val="solid"/>
          </a:ln>
        </p:spPr>
      </p:sp>
      <p:sp>
        <p:nvSpPr>
          <p:cNvPr id="11" name="Text 9"/>
          <p:cNvSpPr/>
          <p:nvPr/>
        </p:nvSpPr>
        <p:spPr>
          <a:xfrm>
            <a:off x="8257173" y="2828339"/>
            <a:ext cx="2942967" cy="311150"/>
          </a:xfrm>
          <a:prstGeom prst="rect">
            <a:avLst/>
          </a:prstGeom>
          <a:noFill/>
          <a:ln/>
        </p:spPr>
        <p:txBody>
          <a:bodyPr wrap="square" lIns="0" tIns="0" rIns="0" bIns="0" rtlCol="0" anchor="t">
            <a:normAutofit/>
          </a:bodyPr>
          <a:lstStyle/>
          <a:p>
            <a:pPr algn="l" indent="0" marL="0">
              <a:lnSpc>
                <a:spcPts val="2250"/>
              </a:lnSpc>
              <a:buNone/>
            </a:pPr>
            <a:r>
              <a:rPr lang="en-US" sz="1800" b="1" dirty="0">
                <a:solidFill>
                  <a:srgbClr val="222222"/>
                </a:solidFill>
                <a:latin typeface="Open Sans" pitchFamily="34" charset="0"/>
                <a:ea typeface="Open Sans" pitchFamily="34" charset="-122"/>
                <a:cs typeface="Open Sans" pitchFamily="34" charset="-120"/>
              </a:rPr>
              <a:t>Documenta sus huecos</a:t>
            </a:r>
            <a:endParaRPr lang="en-US" sz="1800" dirty="0"/>
          </a:p>
        </p:txBody>
      </p:sp>
      <p:sp>
        <p:nvSpPr>
          <p:cNvPr id="12" name="Text 10"/>
          <p:cNvSpPr/>
          <p:nvPr/>
        </p:nvSpPr>
        <p:spPr>
          <a:xfrm>
            <a:off x="8257173" y="3215689"/>
            <a:ext cx="2942967" cy="77211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Open Sans" pitchFamily="34" charset="0"/>
                <a:ea typeface="Open Sans" pitchFamily="34" charset="-122"/>
                <a:cs typeface="Open Sans" pitchFamily="34" charset="-120"/>
              </a:rPr>
              <a:t>Qué no cubre, escrito en el propio control. Así sabes dónde poner la siguiente puerta.</a:t>
            </a:r>
            <a:endParaRPr lang="en-US" sz="1400" dirty="0"/>
          </a:p>
        </p:txBody>
      </p:sp>
      <p:sp>
        <p:nvSpPr>
          <p:cNvPr id="13" name="Text 11"/>
          <p:cNvSpPr/>
          <p:nvPr/>
        </p:nvSpPr>
        <p:spPr>
          <a:xfrm>
            <a:off x="812800" y="5760789"/>
            <a:ext cx="10883392" cy="30981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E5E"/>
                </a:solidFill>
                <a:latin typeface="Open Sans" pitchFamily="34" charset="0"/>
                <a:ea typeface="Open Sans" pitchFamily="34" charset="-122"/>
                <a:cs typeface="Open Sans" pitchFamily="34" charset="-120"/>
              </a:rPr>
              <a:t>Y la prosa sigue siendo útil: </a:t>
            </a:r>
            <a:r>
              <a:rPr lang="en-US" sz="1600" b="1" dirty="0">
                <a:solidFill>
                  <a:srgbClr val="EC0000"/>
                </a:solidFill>
                <a:latin typeface="Open Sans" pitchFamily="34" charset="0"/>
                <a:ea typeface="Open Sans" pitchFamily="34" charset="-122"/>
                <a:cs typeface="Open Sans" pitchFamily="34" charset="-120"/>
              </a:rPr>
              <a:t>pasa de ser la barrera a ser la explicación</a:t>
            </a:r>
            <a:r>
              <a:rPr lang="en-US" sz="1600" dirty="0">
                <a:solidFill>
                  <a:srgbClr val="5E5E5E"/>
                </a:solidFill>
                <a:latin typeface="Open Sans" pitchFamily="34" charset="0"/>
                <a:ea typeface="Open Sans" pitchFamily="34" charset="-122"/>
                <a:cs typeface="Open Sans" pitchFamily="34" charset="-120"/>
              </a:rPr>
              <a:t> de cada control.</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0000"/>
        </a:solidFill>
      </p:bgPr>
    </p:bg>
    <p:spTree>
      <p:nvGrpSpPr>
        <p:cNvPr id="1" name=""/>
        <p:cNvGrpSpPr/>
        <p:nvPr/>
      </p:nvGrpSpPr>
      <p:grpSpPr>
        <a:xfrm>
          <a:off x="0" y="0"/>
          <a:ext cx="0" cy="0"/>
          <a:chOff x="0" y="0"/>
          <a:chExt cx="0" cy="0"/>
        </a:xfrm>
      </p:grpSpPr>
      <p:sp>
        <p:nvSpPr>
          <p:cNvPr id="2" name="Text 0"/>
          <p:cNvSpPr/>
          <p:nvPr>
            <p:ph type="title"/>
          </p:nvPr>
        </p:nvSpPr>
        <p:spPr>
          <a:xfrm>
            <a:off x="812800" y="812800"/>
            <a:ext cx="10883392" cy="528303"/>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FFFFF"/>
                </a:solidFill>
                <a:latin typeface="Open Sans" pitchFamily="34" charset="0"/>
                <a:ea typeface="Open Sans" pitchFamily="34" charset="-122"/>
                <a:cs typeface="Open Sans" pitchFamily="34" charset="-120"/>
              </a:rPr>
              <a:t>Qué hacer el lunes</a:t>
            </a:r>
            <a:endParaRPr lang="en-US" sz="3600" dirty="0"/>
          </a:p>
        </p:txBody>
      </p:sp>
      <p:sp>
        <p:nvSpPr>
          <p:cNvPr id="3" name="Shape 1"/>
          <p:cNvSpPr/>
          <p:nvPr/>
        </p:nvSpPr>
        <p:spPr>
          <a:xfrm>
            <a:off x="812800" y="1986880"/>
            <a:ext cx="10566400" cy="0"/>
          </a:xfrm>
          <a:prstGeom prst="line">
            <a:avLst/>
          </a:prstGeom>
          <a:noFill/>
          <a:ln w="19050">
            <a:solidFill>
              <a:srgbClr val="FFFFFF"/>
            </a:solidFill>
            <a:prstDash val="solid"/>
          </a:ln>
        </p:spPr>
      </p:sp>
      <p:sp>
        <p:nvSpPr>
          <p:cNvPr id="4" name="Text 2"/>
          <p:cNvSpPr/>
          <p:nvPr/>
        </p:nvSpPr>
        <p:spPr>
          <a:xfrm>
            <a:off x="812800" y="2196598"/>
            <a:ext cx="558800" cy="52320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FFFFF"/>
                </a:solidFill>
                <a:latin typeface="Open Sans" pitchFamily="34" charset="0"/>
                <a:ea typeface="Open Sans" pitchFamily="34" charset="-122"/>
                <a:cs typeface="Open Sans" pitchFamily="34" charset="-120"/>
              </a:rPr>
              <a:t>1</a:t>
            </a:r>
            <a:endParaRPr lang="en-US" sz="2800" dirty="0"/>
          </a:p>
        </p:txBody>
      </p:sp>
      <p:sp>
        <p:nvSpPr>
          <p:cNvPr id="5" name="Text 3"/>
          <p:cNvSpPr/>
          <p:nvPr/>
        </p:nvSpPr>
        <p:spPr>
          <a:xfrm>
            <a:off x="1625600" y="2314240"/>
            <a:ext cx="9906104"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FFFFF"/>
                </a:solidFill>
                <a:latin typeface="Open Sans" pitchFamily="34" charset="0"/>
                <a:ea typeface="Open Sans" pitchFamily="34" charset="-122"/>
                <a:cs typeface="Open Sans" pitchFamily="34" charset="-120"/>
              </a:rPr>
              <a:t>Abrid vuestro </a:t>
            </a:r>
            <a:r>
              <a:rPr lang="en-US" sz="2000" b="1" dirty="0">
                <a:solidFill>
                  <a:srgbClr val="FFFFFF"/>
                </a:solidFill>
                <a:latin typeface="Open Sans" pitchFamily="34" charset="0"/>
                <a:ea typeface="Open Sans" pitchFamily="34" charset="-122"/>
                <a:cs typeface="Open Sans" pitchFamily="34" charset="-120"/>
              </a:rPr>
              <a:t>copilot-instructions.md</a:t>
            </a:r>
            <a:r>
              <a:rPr lang="en-US" sz="2000" dirty="0">
                <a:solidFill>
                  <a:srgbClr val="FFFFFF"/>
                </a:solidFill>
                <a:latin typeface="Open Sans" pitchFamily="34" charset="0"/>
                <a:ea typeface="Open Sans" pitchFamily="34" charset="-122"/>
                <a:cs typeface="Open Sans" pitchFamily="34" charset="-120"/>
              </a:rPr>
              <a:t> y pasad cada regla por las tres preguntas.</a:t>
            </a:r>
            <a:endParaRPr lang="en-US" sz="2000" dirty="0"/>
          </a:p>
        </p:txBody>
      </p:sp>
      <p:sp>
        <p:nvSpPr>
          <p:cNvPr id="6" name="Shape 4"/>
          <p:cNvSpPr/>
          <p:nvPr/>
        </p:nvSpPr>
        <p:spPr>
          <a:xfrm>
            <a:off x="812800" y="2907128"/>
            <a:ext cx="10566400" cy="0"/>
          </a:xfrm>
          <a:prstGeom prst="line">
            <a:avLst/>
          </a:prstGeom>
          <a:noFill/>
          <a:ln w="19050">
            <a:solidFill>
              <a:srgbClr val="FFFFFF"/>
            </a:solidFill>
            <a:prstDash val="solid"/>
          </a:ln>
        </p:spPr>
      </p:sp>
      <p:sp>
        <p:nvSpPr>
          <p:cNvPr id="7" name="Text 5"/>
          <p:cNvSpPr/>
          <p:nvPr/>
        </p:nvSpPr>
        <p:spPr>
          <a:xfrm>
            <a:off x="812800" y="3116845"/>
            <a:ext cx="558800" cy="52320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FFFFF"/>
                </a:solidFill>
                <a:latin typeface="Open Sans" pitchFamily="34" charset="0"/>
                <a:ea typeface="Open Sans" pitchFamily="34" charset="-122"/>
                <a:cs typeface="Open Sans" pitchFamily="34" charset="-120"/>
              </a:rPr>
              <a:t>2</a:t>
            </a:r>
            <a:endParaRPr lang="en-US" sz="2800" dirty="0"/>
          </a:p>
        </p:txBody>
      </p:sp>
      <p:sp>
        <p:nvSpPr>
          <p:cNvPr id="8" name="Text 6"/>
          <p:cNvSpPr/>
          <p:nvPr/>
        </p:nvSpPr>
        <p:spPr>
          <a:xfrm>
            <a:off x="1625600" y="3234488"/>
            <a:ext cx="10046208"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FFFFF"/>
                </a:solidFill>
                <a:latin typeface="Open Sans" pitchFamily="34" charset="0"/>
                <a:ea typeface="Open Sans" pitchFamily="34" charset="-122"/>
                <a:cs typeface="Open Sans" pitchFamily="34" charset="-120"/>
              </a:rPr>
              <a:t>Las reglas que no podéis permitir que se rompan, convertidlas en un </a:t>
            </a:r>
            <a:r>
              <a:rPr lang="en-US" sz="2000" b="1" dirty="0">
                <a:solidFill>
                  <a:srgbClr val="FFFFFF"/>
                </a:solidFill>
                <a:latin typeface="Open Sans" pitchFamily="34" charset="0"/>
                <a:ea typeface="Open Sans" pitchFamily="34" charset="-122"/>
                <a:cs typeface="Open Sans" pitchFamily="34" charset="-120"/>
              </a:rPr>
              <a:t>hook</a:t>
            </a:r>
            <a:r>
              <a:rPr lang="en-US" sz="2000" dirty="0">
                <a:solidFill>
                  <a:srgbClr val="FFFFFF"/>
                </a:solidFill>
                <a:latin typeface="Open Sans" pitchFamily="34" charset="0"/>
                <a:ea typeface="Open Sans" pitchFamily="34" charset="-122"/>
                <a:cs typeface="Open Sans" pitchFamily="34" charset="-120"/>
              </a:rPr>
              <a:t> o en un </a:t>
            </a:r>
            <a:r>
              <a:rPr lang="en-US" sz="2000" b="1" dirty="0">
                <a:solidFill>
                  <a:srgbClr val="FFFFFF"/>
                </a:solidFill>
                <a:latin typeface="Open Sans" pitchFamily="34" charset="0"/>
                <a:ea typeface="Open Sans" pitchFamily="34" charset="-122"/>
                <a:cs typeface="Open Sans" pitchFamily="34" charset="-120"/>
              </a:rPr>
              <a:t>check de CI</a:t>
            </a:r>
            <a:r>
              <a:rPr lang="en-US" sz="2000" dirty="0">
                <a:solidFill>
                  <a:srgbClr val="FFFFFF"/>
                </a:solidFill>
                <a:latin typeface="Open Sans" pitchFamily="34" charset="0"/>
                <a:ea typeface="Open Sans" pitchFamily="34" charset="-122"/>
                <a:cs typeface="Open Sans" pitchFamily="34" charset="-120"/>
              </a:rPr>
              <a:t>.</a:t>
            </a:r>
            <a:endParaRPr lang="en-US" sz="2000" dirty="0"/>
          </a:p>
        </p:txBody>
      </p:sp>
      <p:sp>
        <p:nvSpPr>
          <p:cNvPr id="9" name="Shape 7"/>
          <p:cNvSpPr/>
          <p:nvPr/>
        </p:nvSpPr>
        <p:spPr>
          <a:xfrm>
            <a:off x="812800" y="4107613"/>
            <a:ext cx="10566400" cy="0"/>
          </a:xfrm>
          <a:prstGeom prst="line">
            <a:avLst/>
          </a:prstGeom>
          <a:noFill/>
          <a:ln w="19050">
            <a:solidFill>
              <a:srgbClr val="FFFFFF"/>
            </a:solidFill>
            <a:prstDash val="solid"/>
          </a:ln>
        </p:spPr>
      </p:sp>
      <p:sp>
        <p:nvSpPr>
          <p:cNvPr id="10" name="Shape 8"/>
          <p:cNvSpPr/>
          <p:nvPr/>
        </p:nvSpPr>
        <p:spPr>
          <a:xfrm>
            <a:off x="812800" y="5024854"/>
            <a:ext cx="10566400" cy="0"/>
          </a:xfrm>
          <a:prstGeom prst="line">
            <a:avLst/>
          </a:prstGeom>
          <a:noFill/>
          <a:ln w="19050">
            <a:solidFill>
              <a:srgbClr val="FFFFFF"/>
            </a:solidFill>
            <a:prstDash val="solid"/>
          </a:ln>
        </p:spPr>
      </p:sp>
      <p:sp>
        <p:nvSpPr>
          <p:cNvPr id="11" name="Text 9"/>
          <p:cNvSpPr/>
          <p:nvPr/>
        </p:nvSpPr>
        <p:spPr>
          <a:xfrm>
            <a:off x="812800" y="4317330"/>
            <a:ext cx="558800" cy="523207"/>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FFFFFF"/>
                </a:solidFill>
                <a:latin typeface="Open Sans" pitchFamily="34" charset="0"/>
                <a:ea typeface="Open Sans" pitchFamily="34" charset="-122"/>
                <a:cs typeface="Open Sans" pitchFamily="34" charset="-120"/>
              </a:rPr>
              <a:t>3</a:t>
            </a:r>
            <a:endParaRPr lang="en-US" sz="2800" dirty="0"/>
          </a:p>
        </p:txBody>
      </p:sp>
      <p:sp>
        <p:nvSpPr>
          <p:cNvPr id="12" name="Text 10"/>
          <p:cNvSpPr/>
          <p:nvPr/>
        </p:nvSpPr>
        <p:spPr>
          <a:xfrm>
            <a:off x="1625600" y="4434973"/>
            <a:ext cx="8616415"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FFFFF"/>
                </a:solidFill>
                <a:latin typeface="Open Sans" pitchFamily="34" charset="0"/>
                <a:ea typeface="Open Sans" pitchFamily="34" charset="-122"/>
                <a:cs typeface="Open Sans" pitchFamily="34" charset="-120"/>
              </a:rPr>
              <a:t>Cada control, con su test por efecto y sus huecos por escrito.</a:t>
            </a:r>
            <a:endParaRPr lang="en-US" sz="2000" dirty="0"/>
          </a:p>
        </p:txBody>
      </p:sp>
      <p:sp>
        <p:nvSpPr>
          <p:cNvPr id="13" name="Text 11"/>
          <p:cNvSpPr/>
          <p:nvPr/>
        </p:nvSpPr>
        <p:spPr>
          <a:xfrm>
            <a:off x="812800" y="5695950"/>
            <a:ext cx="10883392" cy="374650"/>
          </a:xfrm>
          <a:prstGeom prst="rect">
            <a:avLst/>
          </a:prstGeom>
          <a:noFill/>
          <a:ln/>
        </p:spPr>
        <p:txBody>
          <a:bodyPr wrap="square" lIns="0" tIns="0" rIns="0" bIns="0" rtlCol="0" anchor="t">
            <a:normAutofit/>
          </a:bodyPr>
          <a:lstStyle/>
          <a:p>
            <a:pPr algn="l" indent="0" marL="0">
              <a:lnSpc>
                <a:spcPts val="2750"/>
              </a:lnSpc>
              <a:buNone/>
            </a:pPr>
            <a:r>
              <a:rPr lang="en-US" sz="2200" b="1" dirty="0">
                <a:solidFill>
                  <a:srgbClr val="FFFFFF"/>
                </a:solidFill>
                <a:latin typeface="Open Sans" pitchFamily="34" charset="0"/>
                <a:ea typeface="Open Sans" pitchFamily="34" charset="-122"/>
                <a:cs typeface="Open Sans" pitchFamily="34" charset="-120"/>
              </a:rPr>
              <a:t>La prosa dirige el trabajo. </a:t>
            </a:r>
            <a:r>
              <a:rPr lang="en-US" sz="2200" b="1" u="sng" dirty="0">
                <a:solidFill>
                  <a:srgbClr val="FFFFFF"/>
                </a:solidFill>
                <a:latin typeface="Open Sans" pitchFamily="34" charset="0"/>
                <a:ea typeface="Open Sans" pitchFamily="34" charset="-122"/>
                <a:cs typeface="Open Sans" pitchFamily="34" charset="-120"/>
              </a:rPr>
              <a:t>No lo contiene.</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152400"/>
          </a:xfrm>
          <a:prstGeom prst="rect">
            <a:avLst/>
          </a:prstGeom>
          <a:solidFill>
            <a:srgbClr val="EC0000"/>
          </a:solidFill>
          <a:ln/>
        </p:spPr>
      </p:sp>
      <p:sp>
        <p:nvSpPr>
          <p:cNvPr id="3" name="Text 1"/>
          <p:cNvSpPr/>
          <p:nvPr>
            <p:ph type="title"/>
          </p:nvPr>
        </p:nvSpPr>
        <p:spPr>
          <a:xfrm>
            <a:off x="812800" y="2343150"/>
            <a:ext cx="10883392" cy="8255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EC0000"/>
                </a:solidFill>
                <a:latin typeface="Open Sans" pitchFamily="34" charset="0"/>
                <a:ea typeface="Open Sans" pitchFamily="34" charset="-122"/>
                <a:cs typeface="Open Sans" pitchFamily="34" charset="-120"/>
              </a:rPr>
              <a:t>¿Preguntas?</a:t>
            </a:r>
            <a:endParaRPr lang="en-US" sz="6000" dirty="0"/>
          </a:p>
        </p:txBody>
      </p:sp>
      <p:sp>
        <p:nvSpPr>
          <p:cNvPr id="4" name="Text 2"/>
          <p:cNvSpPr/>
          <p:nvPr/>
        </p:nvSpPr>
        <p:spPr>
          <a:xfrm>
            <a:off x="812800" y="3448050"/>
            <a:ext cx="10883392" cy="309813"/>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5E5E5E"/>
                </a:solidFill>
                <a:latin typeface="Open Sans" pitchFamily="34" charset="0"/>
                <a:ea typeface="Open Sans" pitchFamily="34" charset="-122"/>
                <a:cs typeface="Open Sans" pitchFamily="34" charset="-120"/>
              </a:rPr>
              <a:t>Basado en el artículo de José Ramón Pérez Agüera (Gemba)</a:t>
            </a:r>
            <a:endParaRPr lang="en-US" sz="1600" dirty="0"/>
          </a:p>
        </p:txBody>
      </p:sp>
      <p:sp>
        <p:nvSpPr>
          <p:cNvPr id="5" name="Text 3"/>
          <p:cNvSpPr/>
          <p:nvPr/>
        </p:nvSpPr>
        <p:spPr>
          <a:xfrm>
            <a:off x="812800" y="3834061"/>
            <a:ext cx="10883392" cy="355600"/>
          </a:xfrm>
          <a:prstGeom prst="rect">
            <a:avLst/>
          </a:prstGeom>
          <a:noFill/>
          <a:ln/>
        </p:spPr>
        <p:txBody>
          <a:bodyPr wrap="square" lIns="0" tIns="0" rIns="0" bIns="0" rtlCol="0" anchor="t">
            <a:normAutofit/>
          </a:bodyPr>
          <a:lstStyle/>
          <a:p>
            <a:pPr algn="l" indent="0" marL="0">
              <a:lnSpc>
                <a:spcPts val="2600"/>
              </a:lnSpc>
              <a:buNone/>
            </a:pPr>
            <a:r>
              <a:rPr lang="en-US" sz="2000" b="1" u="sng" dirty="0">
                <a:solidFill>
                  <a:srgbClr val="EC0000"/>
                </a:solidFill>
                <a:latin typeface="Open Sans" pitchFamily="34" charset="0"/>
                <a:ea typeface="Open Sans" pitchFamily="34" charset="-122"/>
                <a:cs typeface="Open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«Un prompt no es una puerta»</a:t>
            </a:r>
            <a:endParaRPr lang="en-US" sz="2000" dirty="0"/>
          </a:p>
        </p:txBody>
      </p:sp>
      <p:sp>
        <p:nvSpPr>
          <p:cNvPr id="6" name="Text 4"/>
          <p:cNvSpPr/>
          <p:nvPr/>
        </p:nvSpPr>
        <p:spPr>
          <a:xfrm>
            <a:off x="812800" y="4265867"/>
            <a:ext cx="10883392" cy="27430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5E5E"/>
                </a:solidFill>
                <a:latin typeface="JetBrains Mono" pitchFamily="49" charset="0"/>
                <a:ea typeface="JetBrains Mono" pitchFamily="49" charset="-122"/>
                <a:cs typeface="JetBrains Mono" pitchFamily="49" charset="-120"/>
              </a:rPr>
              <a:t>newsletter.gemba.es/p/un-prompt-no-es-una-puerta</a:t>
            </a:r>
            <a:endParaRPr lang="en-US" sz="1400" dirty="0"/>
          </a:p>
        </p:txBody>
      </p:sp>
    </p:spTree>
  </p:cSld>
  <p:clrMapOvr>
    <a:masterClrMapping/>
  </p:clrMapOvr>
</p:sld>
</file>

<file path=ppt/theme/theme1.xml><?xml version="1.0" encoding="utf-8"?>
<a:theme xmlns:a="http://schemas.openxmlformats.org/drawingml/2006/main" name="Un prompt no es una puerta">
  <a:themeElements>
    <a:clrScheme name="Un prompt no es una puerta">
      <a:dk1>
        <a:srgbClr val="222222"/>
      </a:dk1>
      <a:lt1>
        <a:srgbClr val="FFFFFF"/>
      </a:lt1>
      <a:dk2>
        <a:srgbClr val="595959"/>
      </a:dk2>
      <a:lt2>
        <a:srgbClr val="E9E9E9"/>
      </a:lt2>
      <a:accent1>
        <a:srgbClr val="EC0000"/>
      </a:accent1>
      <a:accent2>
        <a:srgbClr val="A80000"/>
      </a:accent2>
      <a:accent3>
        <a:srgbClr val="5E5E5E"/>
      </a:accent3>
      <a:accent4>
        <a:srgbClr val="9AA0A6"/>
      </a:accent4>
      <a:accent5>
        <a:srgbClr val="7A7A7A"/>
      </a:accent5>
      <a:accent6>
        <a:srgbClr val="9C9C9C"/>
      </a:accent6>
      <a:hlink>
        <a:srgbClr val="0563C1"/>
      </a:hlink>
      <a:folHlink>
        <a:srgbClr val="954F72"/>
      </a:folHlink>
    </a:clrScheme>
    <a:fontScheme name="Un prompt no es una puerta">
      <a:majorFont>
        <a:latin typeface="Open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Open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 prompt no es una puerta</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Open Sans
Copyright 2020 The Open Sans Project Authors (https://github.com/googlefonts/opensans)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2026-10-27T00:10:02Z</dcterms:created>
  <dcterms:modified xsi:type="dcterms:W3CDTF">2026-10-27T00:10:02Z</dcterms:modified>
</cp:coreProperties>
</file>